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322" r:id="rId5"/>
    <p:sldId id="321" r:id="rId6"/>
    <p:sldId id="320" r:id="rId7"/>
    <p:sldId id="317" r:id="rId8"/>
    <p:sldId id="316" r:id="rId9"/>
    <p:sldId id="311" r:id="rId10"/>
    <p:sldId id="310" r:id="rId11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696B"/>
    <a:srgbClr val="95B8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1" autoAdjust="0"/>
    <p:restoredTop sz="95388" autoAdjust="0"/>
  </p:normalViewPr>
  <p:slideViewPr>
    <p:cSldViewPr snapToGrid="0">
      <p:cViewPr varScale="1">
        <p:scale>
          <a:sx n="152" d="100"/>
          <a:sy n="152" d="100"/>
        </p:scale>
        <p:origin x="354" y="138"/>
      </p:cViewPr>
      <p:guideLst/>
    </p:cSldViewPr>
  </p:slideViewPr>
  <p:outlineViewPr>
    <p:cViewPr>
      <p:scale>
        <a:sx n="33" d="100"/>
        <a:sy n="33" d="100"/>
      </p:scale>
      <p:origin x="0" y="-77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80" d="100"/>
          <a:sy n="80" d="100"/>
        </p:scale>
        <p:origin x="3990" y="15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51A50702-3C68-4B14-B819-72B57D27F9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F0F4880-E690-44D0-8356-A9E7BDBAB0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304D1E54-CEB5-487A-9C8E-A467A3D6E586}" type="datetime1">
              <a:rPr lang="fr-FR" smtClean="0"/>
              <a:t>24/01/2026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6B4ACF6-39FD-4B08-A7D5-5BFDC37B46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F7C9FD2-2C57-4DE7-8EA4-86DEE80B98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00AC623C-86E0-4A85-83FB-F4A716956FD4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93955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fld id="{0320EF33-4155-4B10-9F22-7C135C3837D0}" type="datetime1">
              <a:rPr lang="fr-FR" smtClean="0"/>
              <a:pPr/>
              <a:t>24/01/2026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C37D7554-D10C-4E29-B8E6-BB7111FA614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7347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23426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88470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0935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6248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641906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80399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C37D7554-D10C-4E29-B8E6-BB7111FA614F}" type="slidenum">
              <a:rPr lang="fr-FR" smtClean="0"/>
              <a:t>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4164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8" name="Titr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rtlCol="0" anchor="b">
            <a:normAutofit/>
          </a:bodyPr>
          <a:lstStyle>
            <a:lvl1pPr>
              <a:defRPr lang="fr-FR"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</p:spTree>
    <p:extLst>
      <p:ext uri="{BB962C8B-B14F-4D97-AF65-F5344CB8AC3E}">
        <p14:creationId xmlns:p14="http://schemas.microsoft.com/office/powerpoint/2010/main" val="1784555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re du jour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583" y="737115"/>
            <a:ext cx="4640418" cy="5407091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2" name="Espace réservé du contenu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388461" y="737115"/>
            <a:ext cx="4449712" cy="5407091"/>
          </a:xfrm>
        </p:spPr>
        <p:txBody>
          <a:bodyPr lIns="0" tIns="0" rIns="0" bIns="0" rtlCol="0" anchor="ctr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9" name="Espace réservé du numéro de diapositive 5">
            <a:extLst>
              <a:ext uri="{FF2B5EF4-FFF2-40B4-BE49-F238E27FC236}">
                <a16:creationId xmlns:a16="http://schemas.microsoft.com/office/drawing/2014/main" id="{4E9F5D75-1D8F-F695-81F8-4A6D0C6782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77245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imag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1278294"/>
            <a:ext cx="5000318" cy="4904141"/>
          </a:xfrm>
        </p:spPr>
        <p:txBody>
          <a:bodyPr rtlCol="0" anchor="b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42169" y="-1"/>
            <a:ext cx="4635426" cy="6857999"/>
          </a:xfrm>
        </p:spPr>
        <p:txBody>
          <a:bodyPr rtlCol="0">
            <a:normAutofit/>
          </a:bodyPr>
          <a:lstStyle>
            <a:lvl1pPr marL="0" indent="0" algn="ctr">
              <a:buNone/>
              <a:defRPr lang="fr-FR" sz="2000"/>
            </a:lvl1pPr>
          </a:lstStyle>
          <a:p>
            <a:pPr rtl="0"/>
            <a:r>
              <a:rPr lang="fr-FR"/>
              <a:t>Cliquez sur l'icône pour ajouter une image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02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sous-tit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3508311"/>
            <a:ext cx="9923770" cy="1438762"/>
          </a:xfrm>
        </p:spPr>
        <p:txBody>
          <a:bodyPr rtlCol="0" anchor="b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00" y="0"/>
            <a:ext cx="10361995" cy="3429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fr-FR" sz="2000"/>
            </a:lvl1pPr>
          </a:lstStyle>
          <a:p>
            <a:pPr rtl="0"/>
            <a:r>
              <a:rPr lang="fr-FR"/>
              <a:t>Cliquez sur l'icône pour ajouter une image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Espace réservé du texte 12">
            <a:extLst>
              <a:ext uri="{FF2B5EF4-FFF2-40B4-BE49-F238E27FC236}">
                <a16:creationId xmlns:a16="http://schemas.microsoft.com/office/drawing/2014/main" id="{D179113D-0374-3934-841E-56AD5AFCF9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53828" y="5228488"/>
            <a:ext cx="9923770" cy="1368256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lang="fr-FR"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fr-FR"/>
              <a:t>Cliquez pour ajouter un sous-titre</a:t>
            </a:r>
          </a:p>
        </p:txBody>
      </p:sp>
    </p:spTree>
    <p:extLst>
      <p:ext uri="{BB962C8B-B14F-4D97-AF65-F5344CB8AC3E}">
        <p14:creationId xmlns:p14="http://schemas.microsoft.com/office/powerpoint/2010/main" val="3227224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5" y="503852"/>
            <a:ext cx="9150675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2" name="Espace réservé du contenu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50153" y="2108722"/>
            <a:ext cx="8552264" cy="4119463"/>
          </a:xfrm>
        </p:spPr>
        <p:txBody>
          <a:bodyPr lIns="0" tIns="0" rIns="0" bIns="0" rtlCol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9" name="Espace réservé du numéro de diapositive 5">
            <a:extLst>
              <a:ext uri="{FF2B5EF4-FFF2-40B4-BE49-F238E27FC236}">
                <a16:creationId xmlns:a16="http://schemas.microsoft.com/office/drawing/2014/main" id="{5DABAFC1-3E76-DCE6-3A6D-E0020C5BE8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7359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la sectio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507175C5-CB2F-2BAC-3704-54DCD1BF0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031" y="1068169"/>
            <a:ext cx="10115939" cy="2681549"/>
          </a:xfrm>
        </p:spPr>
        <p:txBody>
          <a:bodyPr rtlCol="0" anchor="b"/>
          <a:lstStyle>
            <a:lvl1pPr algn="ctr">
              <a:defRPr lang="fr-FR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1905E-33E7-852F-94E3-8E100B3D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914400"/>
            <a:ext cx="10363200" cy="50292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7799F7-CBB1-9649-7D06-F7EEFD4F0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AFC5CA-DB29-4B8C-C004-72E4EC761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9" name="Espace réservé du texte 12">
            <a:extLst>
              <a:ext uri="{FF2B5EF4-FFF2-40B4-BE49-F238E27FC236}">
                <a16:creationId xmlns:a16="http://schemas.microsoft.com/office/drawing/2014/main" id="{E3CB2D2A-7172-87CE-D493-DAF52D62EB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8031" y="4027047"/>
            <a:ext cx="10115939" cy="1762783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lang="fr-FR" sz="20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 rtl="0"/>
            <a:r>
              <a:rPr lang="fr-FR"/>
              <a:t>Cliquez pour ajouter un sous-titre</a:t>
            </a:r>
          </a:p>
        </p:txBody>
      </p:sp>
    </p:spTree>
    <p:extLst>
      <p:ext uri="{BB962C8B-B14F-4D97-AF65-F5344CB8AC3E}">
        <p14:creationId xmlns:p14="http://schemas.microsoft.com/office/powerpoint/2010/main" val="206953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2 contenus 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2" name="Espace réservé du contenu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4" y="2057401"/>
            <a:ext cx="4627186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fr-FR" sz="2000"/>
            </a:lvl1pPr>
            <a:lvl2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2" name="Espace réservé du contenu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68185" y="2057401"/>
            <a:ext cx="4609399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fr-FR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1D40DF0B-6602-19D4-3110-4659C28780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61720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2 contenus 3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4" name="Espace réservé du contenu 7">
            <a:extLst>
              <a:ext uri="{FF2B5EF4-FFF2-40B4-BE49-F238E27FC236}">
                <a16:creationId xmlns:a16="http://schemas.microsoft.com/office/drawing/2014/main" id="{C355854D-70C0-E6E1-2A0C-284D00A21AE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5" y="2057401"/>
            <a:ext cx="3068678" cy="4119463"/>
          </a:xfrm>
        </p:spPr>
        <p:txBody>
          <a:bodyPr lIns="0" rtlCol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lang="fr-FR" sz="2000"/>
            </a:lvl1pPr>
            <a:lvl2pPr marL="457200" indent="-32004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+mj-lt"/>
              <a:buAutoNum type="alphaLcPeriod"/>
              <a:defRPr lang="fr-FR" sz="2000"/>
            </a:lvl2pPr>
            <a:lvl3pPr marL="9144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rabicParenR"/>
              <a:defRPr lang="fr-FR" sz="2000"/>
            </a:lvl3pPr>
            <a:lvl4pPr marL="13716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lphaLcParenR"/>
              <a:defRPr lang="fr-FR" sz="2000"/>
            </a:lvl4pPr>
            <a:lvl5pPr marL="1828800" indent="-320040">
              <a:spcBef>
                <a:spcPts val="1000"/>
              </a:spcBef>
              <a:spcAft>
                <a:spcPts val="1200"/>
              </a:spcAft>
              <a:buFont typeface="+mj-lt"/>
              <a:buAutoNum type="romanLcPeriod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2" name="Espace réservé du contenu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91727" y="2057401"/>
            <a:ext cx="6085857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fr-FR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D7B331F9-6D4A-5020-969F-E961AF374E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14237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, image et contenu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8" name="Espace réservé d’image 7">
            <a:extLst>
              <a:ext uri="{FF2B5EF4-FFF2-40B4-BE49-F238E27FC236}">
                <a16:creationId xmlns:a16="http://schemas.microsoft.com/office/drawing/2014/main" id="{357912CB-B8F8-1E65-094F-AD3220E6C79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3363" y="2061969"/>
            <a:ext cx="4592637" cy="4805362"/>
          </a:xfrm>
        </p:spPr>
        <p:txBody>
          <a:bodyPr rtlCol="0">
            <a:normAutofit/>
          </a:bodyPr>
          <a:lstStyle>
            <a:lvl1pPr marL="0" indent="0" algn="ctr">
              <a:buNone/>
              <a:defRPr lang="fr-FR" sz="2000"/>
            </a:lvl1pPr>
          </a:lstStyle>
          <a:p>
            <a:pPr rtl="0"/>
            <a:r>
              <a:rPr lang="fr-FR"/>
              <a:t>Cliquez sur l'icône pour ajouter une image</a:t>
            </a:r>
          </a:p>
        </p:txBody>
      </p:sp>
      <p:sp>
        <p:nvSpPr>
          <p:cNvPr id="12" name="Espace réservé du contenu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87262" y="2052736"/>
            <a:ext cx="4490320" cy="480059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fr-FR" sz="200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12573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7145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21717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" name="Espace réservé du numéro de diapositive 5">
            <a:extLst>
              <a:ext uri="{FF2B5EF4-FFF2-40B4-BE49-F238E27FC236}">
                <a16:creationId xmlns:a16="http://schemas.microsoft.com/office/drawing/2014/main" id="{8809D86D-3DDE-CA24-4CAA-DF6944B9BC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1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, contenu et tableau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2" name="Espace réservé du contenu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68814" y="2057400"/>
            <a:ext cx="3091027" cy="386753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fr-FR" sz="2000"/>
            </a:lvl1pPr>
            <a:lvl2pPr marL="800100" indent="-3429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2pPr>
            <a:lvl3pPr marL="12573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3pPr>
            <a:lvl4pPr marL="17145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4pPr>
            <a:lvl5pPr marL="21717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4" name="Espace réservé du tableau 13">
            <a:extLst>
              <a:ext uri="{FF2B5EF4-FFF2-40B4-BE49-F238E27FC236}">
                <a16:creationId xmlns:a16="http://schemas.microsoft.com/office/drawing/2014/main" id="{EA708189-1532-1BDD-104F-4D8556146CE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097463" y="2051976"/>
            <a:ext cx="6180137" cy="3867538"/>
          </a:xfrm>
        </p:spPr>
        <p:txBody>
          <a:bodyPr rtlCol="0">
            <a:normAutofit/>
          </a:bodyPr>
          <a:lstStyle>
            <a:lvl1pPr>
              <a:defRPr lang="fr-FR" sz="2000"/>
            </a:lvl1pPr>
          </a:lstStyle>
          <a:p>
            <a:pPr rtl="0"/>
            <a:r>
              <a:rPr lang="fr-FR"/>
              <a:t>Cliquez sur l'icône pour ajouter un tableau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space réservé du numéro de diapositive 5">
            <a:extLst>
              <a:ext uri="{FF2B5EF4-FFF2-40B4-BE49-F238E27FC236}">
                <a16:creationId xmlns:a16="http://schemas.microsoft.com/office/drawing/2014/main" id="{6E0EC71B-95A1-C740-6B1F-F8DF02E2D1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0929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2 contenus 2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8B0AB10A-3CAB-D4C0-3CB1-401461802B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68814" y="2066731"/>
            <a:ext cx="6452876" cy="3867538"/>
          </a:xfrm>
        </p:spPr>
        <p:txBody>
          <a:bodyPr lIns="0" rtlCol="0">
            <a:norm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lang="fr-FR" sz="2000"/>
            </a:lvl1pPr>
            <a:lvl2pPr>
              <a:lnSpc>
                <a:spcPct val="100000"/>
              </a:lnSpc>
              <a:spcAft>
                <a:spcPts val="600"/>
              </a:spcAft>
              <a:defRPr lang="fr-FR" sz="2000"/>
            </a:lvl2pPr>
            <a:lvl3pPr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defRPr lang="fr-FR" sz="2000"/>
            </a:lvl3pPr>
            <a:lvl4pPr>
              <a:lnSpc>
                <a:spcPct val="100000"/>
              </a:lnSpc>
              <a:spcAft>
                <a:spcPts val="1200"/>
              </a:spcAft>
              <a:defRPr lang="fr-FR" sz="2000"/>
            </a:lvl4pPr>
            <a:lvl5pPr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1" name="Espace réservé du contenu 7">
            <a:extLst>
              <a:ext uri="{FF2B5EF4-FFF2-40B4-BE49-F238E27FC236}">
                <a16:creationId xmlns:a16="http://schemas.microsoft.com/office/drawing/2014/main" id="{7DBA8ADB-B20F-8404-46AB-AF67E25C7C7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69196" y="2066731"/>
            <a:ext cx="3108391" cy="386753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lang="fr-FR" sz="2000"/>
            </a:lvl1pPr>
            <a:lvl2pPr marL="8001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lang="fr-FR" sz="2000"/>
            </a:lvl2pPr>
            <a:lvl3pPr marL="1257300" indent="-342900">
              <a:buFont typeface="Arial" panose="020B0604020202020204" pitchFamily="34" charset="0"/>
              <a:buChar char="•"/>
              <a:defRPr lang="fr-FR" sz="2000"/>
            </a:lvl3pPr>
            <a:lvl4pPr marL="1714500" indent="-342900">
              <a:buFont typeface="Arial" panose="020B0604020202020204" pitchFamily="34" charset="0"/>
              <a:buChar char="•"/>
              <a:defRPr lang="fr-FR" sz="2000"/>
            </a:lvl4pPr>
            <a:lvl5pPr marL="2171700" indent="-342900">
              <a:buFont typeface="Arial" panose="020B0604020202020204" pitchFamily="34" charset="0"/>
              <a:buChar char="•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" name="Espace réservé du numéro de diapositive 5">
            <a:extLst>
              <a:ext uri="{FF2B5EF4-FFF2-40B4-BE49-F238E27FC236}">
                <a16:creationId xmlns:a16="http://schemas.microsoft.com/office/drawing/2014/main" id="{8814D5F7-E70A-5F97-5C8F-95B9E1B6D4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52814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ableau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r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9" name="Espace réservé du tableau 8">
            <a:extLst>
              <a:ext uri="{FF2B5EF4-FFF2-40B4-BE49-F238E27FC236}">
                <a16:creationId xmlns:a16="http://schemas.microsoft.com/office/drawing/2014/main" id="{CB43608F-0A38-CF4A-4B3B-F1212E786FD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487488" y="2057400"/>
            <a:ext cx="9790112" cy="3886200"/>
          </a:xfrm>
        </p:spPr>
        <p:txBody>
          <a:bodyPr rtlCol="0">
            <a:normAutofit/>
          </a:bodyPr>
          <a:lstStyle>
            <a:lvl1pPr>
              <a:defRPr lang="fr-FR" sz="2400"/>
            </a:lvl1pPr>
          </a:lstStyle>
          <a:p>
            <a:pPr rtl="0"/>
            <a:r>
              <a:rPr lang="fr-FR"/>
              <a:t>Cliquez sur l'icône pour ajouter un tableau</a:t>
            </a:r>
          </a:p>
        </p:txBody>
      </p:sp>
      <p:sp>
        <p:nvSpPr>
          <p:cNvPr id="2" name="Espace réservé du numéro de diapositive 5">
            <a:extLst>
              <a:ext uri="{FF2B5EF4-FFF2-40B4-BE49-F238E27FC236}">
                <a16:creationId xmlns:a16="http://schemas.microsoft.com/office/drawing/2014/main" id="{05DA3688-07D1-82D9-6818-C95E9A69C2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1357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8" name="Titr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4" y="690511"/>
            <a:ext cx="4964671" cy="5253089"/>
          </a:xfrm>
        </p:spPr>
        <p:txBody>
          <a:bodyPr rtlCol="0" anchor="b">
            <a:normAutofit/>
          </a:bodyPr>
          <a:lstStyle>
            <a:lvl1pPr>
              <a:defRPr lang="fr-FR"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AD608249-3D60-D3B2-68C5-778D0EA18F2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82286" y="690465"/>
            <a:ext cx="4784372" cy="5253089"/>
          </a:xfrm>
        </p:spPr>
        <p:txBody>
          <a:bodyPr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fr-FR" sz="2000">
                <a:solidFill>
                  <a:schemeClr val="bg1"/>
                </a:solidFill>
              </a:defRPr>
            </a:lvl1pPr>
            <a:lvl2pPr marL="7429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1800">
                <a:solidFill>
                  <a:schemeClr val="bg1"/>
                </a:solidFill>
              </a:defRPr>
            </a:lvl2pPr>
            <a:lvl3pPr marL="12001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1600">
                <a:solidFill>
                  <a:schemeClr val="bg1"/>
                </a:solidFill>
              </a:defRPr>
            </a:lvl3pPr>
            <a:lvl4pPr marL="16573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1400">
                <a:solidFill>
                  <a:schemeClr val="bg1"/>
                </a:solidFill>
              </a:defRPr>
            </a:lvl4pPr>
            <a:lvl5pPr marL="21145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fr-FR"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64374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B82F216-62F1-7E0B-63FD-51C27CDAA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fr-FR"/>
            </a:defPPr>
          </a:lstStyle>
          <a:p>
            <a:pPr rtl="0"/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E61F31D-B959-2AD8-9208-FF08B574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F32C8C7-5C6C-400B-AEC0-4D8178161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7105D6-7B52-4B7D-9473-BCD571A93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fr-FR"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pPr rtl="0"/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13EAA0A-7090-4FA3-AD1C-CD4570404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2136" y="5943601"/>
            <a:ext cx="968983" cy="6519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fr-FR" sz="1200" b="1" spc="150" baseline="0">
                <a:solidFill>
                  <a:schemeClr val="tx1"/>
                </a:solidFill>
                <a:latin typeface="+mn-lt"/>
              </a:defRPr>
            </a:lvl1pPr>
          </a:lstStyle>
          <a:p>
            <a:pPr rtl="0"/>
            <a:fld id="{18D65601-5AE2-46FC-B138-694DDD2B510D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3743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3" r:id="rId2"/>
    <p:sldLayoutId id="2147483692" r:id="rId3"/>
    <p:sldLayoutId id="2147483691" r:id="rId4"/>
    <p:sldLayoutId id="2147483690" r:id="rId5"/>
    <p:sldLayoutId id="2147483689" r:id="rId6"/>
    <p:sldLayoutId id="2147483688" r:id="rId7"/>
    <p:sldLayoutId id="2147483687" r:id="rId8"/>
    <p:sldLayoutId id="2147483686" r:id="rId9"/>
    <p:sldLayoutId id="2147483685" r:id="rId10"/>
    <p:sldLayoutId id="2147483684" r:id="rId11"/>
    <p:sldLayoutId id="2147483682" r:id="rId12"/>
    <p:sldLayoutId id="214748368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fr-FR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fr-FR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454C9E-20FB-B999-9303-C71D1334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6583" y="233333"/>
            <a:ext cx="5612906" cy="2765272"/>
          </a:xfrm>
        </p:spPr>
        <p:txBody>
          <a:bodyPr rtlCol="0">
            <a:normAutofit fontScale="90000"/>
          </a:bodyPr>
          <a:lstStyle>
            <a:defPPr>
              <a:defRPr lang="fr-FR"/>
            </a:defPPr>
          </a:lstStyle>
          <a:p>
            <a:r>
              <a:rPr lang="fr-FR" b="1" dirty="0"/>
              <a:t>Développer des applications communicantes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C77EC2-4078-C0B3-2AA9-322137045049}"/>
              </a:ext>
            </a:extLst>
          </p:cNvPr>
          <p:cNvSpPr txBox="1"/>
          <p:nvPr/>
        </p:nvSpPr>
        <p:spPr>
          <a:xfrm>
            <a:off x="9839785" y="5657671"/>
            <a:ext cx="23522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GOMBERT  Julien</a:t>
            </a:r>
          </a:p>
          <a:p>
            <a:pPr algn="r"/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BERTEAU  Yoann</a:t>
            </a:r>
          </a:p>
          <a:p>
            <a:pPr algn="r"/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BAZIN  Titouan</a:t>
            </a:r>
          </a:p>
          <a:p>
            <a:pPr algn="r"/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CAILLET  Adrien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0A2B84A-E392-4C8A-F1A2-700CE1E3A13A}"/>
              </a:ext>
            </a:extLst>
          </p:cNvPr>
          <p:cNvSpPr txBox="1"/>
          <p:nvPr/>
        </p:nvSpPr>
        <p:spPr>
          <a:xfrm>
            <a:off x="-49397" y="5173824"/>
            <a:ext cx="1026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>
                    <a:lumMod val="95000"/>
                  </a:schemeClr>
                </a:solidFill>
              </a:rPr>
              <a:t>SAE 32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9C6D99F-C526-B5DB-27FB-856B9749092F}"/>
              </a:ext>
            </a:extLst>
          </p:cNvPr>
          <p:cNvSpPr txBox="1"/>
          <p:nvPr/>
        </p:nvSpPr>
        <p:spPr>
          <a:xfrm>
            <a:off x="41517" y="5543156"/>
            <a:ext cx="845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>
                    <a:lumMod val="95000"/>
                  </a:schemeClr>
                </a:solidFill>
              </a:rPr>
              <a:t>27/01</a:t>
            </a:r>
          </a:p>
        </p:txBody>
      </p:sp>
      <p:pic>
        <p:nvPicPr>
          <p:cNvPr id="7" name="Image 6" descr="Une image contenant capture d’écran, dessin humoristique, Graphique, conception&#10;&#10;Le contenu généré par l’IA peut être incorrect.">
            <a:extLst>
              <a:ext uri="{FF2B5EF4-FFF2-40B4-BE49-F238E27FC236}">
                <a16:creationId xmlns:a16="http://schemas.microsoft.com/office/drawing/2014/main" id="{5919D51C-A7FD-6408-FC31-808CBA605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5100" y="1985204"/>
            <a:ext cx="1288485" cy="115645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FC55E44-E72C-8053-1EC7-8FE2E1B68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965" y="2749596"/>
            <a:ext cx="1301770" cy="23490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ndroid Studio Icon SVG Vector &amp; PNG Free Download | UXWing">
            <a:extLst>
              <a:ext uri="{FF2B5EF4-FFF2-40B4-BE49-F238E27FC236}">
                <a16:creationId xmlns:a16="http://schemas.microsoft.com/office/drawing/2014/main" id="{0A9C91B5-E7D1-A68E-6971-6A5DF84C23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4547" y="3276600"/>
            <a:ext cx="3257550" cy="3257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D97761-0B88-A5E8-0B78-C39173D05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9999" y="1600715"/>
            <a:ext cx="2951317" cy="882135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Ordre du jour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BA04E6-CD61-B962-4287-DEC1993C32D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88461" y="737115"/>
            <a:ext cx="4449712" cy="5407091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Introduction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Présentation du produit</a:t>
            </a:r>
          </a:p>
          <a:p>
            <a:pPr rtl="0"/>
            <a:endParaRPr lang="fr-FR" dirty="0"/>
          </a:p>
          <a:p>
            <a:r>
              <a:rPr lang="fr-FR" dirty="0"/>
              <a:t>Les principaux</a:t>
            </a:r>
            <a:br>
              <a:rPr lang="fr-FR" dirty="0"/>
            </a:br>
            <a:r>
              <a:rPr lang="fr-FR" dirty="0"/>
              <a:t>problèmes rencontrés</a:t>
            </a:r>
          </a:p>
          <a:p>
            <a:endParaRPr lang="fr-FR" dirty="0"/>
          </a:p>
          <a:p>
            <a:pPr rtl="0"/>
            <a:r>
              <a:rPr lang="fr-FR" dirty="0"/>
              <a:t>La gestion du planning</a:t>
            </a:r>
          </a:p>
          <a:p>
            <a:pPr rtl="0"/>
            <a:endParaRPr lang="fr-FR" dirty="0"/>
          </a:p>
          <a:p>
            <a:pPr rtl="0"/>
            <a:r>
              <a:rPr lang="fr-FR" dirty="0"/>
              <a:t>Les pistes futures 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CD4601E-33F5-5714-867D-A0B584DA7C1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/>
              <a:t>2</a:t>
            </a:fld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1FD957F-9F2A-E638-AB62-4CC8ADF9D8C4}"/>
              </a:ext>
            </a:extLst>
          </p:cNvPr>
          <p:cNvSpPr txBox="1"/>
          <p:nvPr/>
        </p:nvSpPr>
        <p:spPr>
          <a:xfrm>
            <a:off x="11379200" y="82550"/>
            <a:ext cx="73025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4000" dirty="0"/>
              <a:t>2</a:t>
            </a:r>
          </a:p>
        </p:txBody>
      </p:sp>
      <p:pic>
        <p:nvPicPr>
          <p:cNvPr id="11" name="Image 10" descr="Une image contenant chaise, meubles, monochrome, noir et blanc&#10;&#10;Le contenu généré par l’IA peut être incorrect.">
            <a:extLst>
              <a:ext uri="{FF2B5EF4-FFF2-40B4-BE49-F238E27FC236}">
                <a16:creationId xmlns:a16="http://schemas.microsoft.com/office/drawing/2014/main" id="{2B6D1BEB-471C-BF87-559B-C59019B98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583" y="2596110"/>
            <a:ext cx="3740150" cy="326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4552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2D7A7560-C4EC-BBA5-27A0-E9481726BB11}"/>
              </a:ext>
            </a:extLst>
          </p:cNvPr>
          <p:cNvSpPr txBox="1"/>
          <p:nvPr/>
        </p:nvSpPr>
        <p:spPr>
          <a:xfrm>
            <a:off x="11379200" y="82550"/>
            <a:ext cx="73025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4000" dirty="0"/>
              <a:t>3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C35B2DA-8E38-D949-B9BD-587D007F80C5}"/>
              </a:ext>
            </a:extLst>
          </p:cNvPr>
          <p:cNvSpPr txBox="1"/>
          <p:nvPr/>
        </p:nvSpPr>
        <p:spPr>
          <a:xfrm>
            <a:off x="4533900" y="146050"/>
            <a:ext cx="3727450" cy="461665"/>
          </a:xfrm>
          <a:prstGeom prst="rect">
            <a:avLst/>
          </a:prstGeom>
          <a:noFill/>
          <a:ln w="38100">
            <a:solidFill>
              <a:srgbClr val="95B8B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Présentation du produit</a:t>
            </a:r>
          </a:p>
        </p:txBody>
      </p:sp>
      <p:pic>
        <p:nvPicPr>
          <p:cNvPr id="16" name="Image 15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E16F8FB0-0593-E40D-047E-42E0EFDD6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314" y="4185659"/>
            <a:ext cx="3620083" cy="2331971"/>
          </a:xfrm>
          <a:prstGeom prst="rect">
            <a:avLst/>
          </a:prstGeom>
          <a:ln w="57150">
            <a:solidFill>
              <a:srgbClr val="58696B"/>
            </a:solidFill>
          </a:ln>
        </p:spPr>
      </p:pic>
      <p:pic>
        <p:nvPicPr>
          <p:cNvPr id="13322" name="Picture 10">
            <a:extLst>
              <a:ext uri="{FF2B5EF4-FFF2-40B4-BE49-F238E27FC236}">
                <a16:creationId xmlns:a16="http://schemas.microsoft.com/office/drawing/2014/main" id="{EF395663-286C-C4C8-C854-668735B25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216" y="1381285"/>
            <a:ext cx="5695950" cy="1989681"/>
          </a:xfrm>
          <a:prstGeom prst="rect">
            <a:avLst/>
          </a:prstGeom>
          <a:noFill/>
          <a:ln w="57150">
            <a:solidFill>
              <a:srgbClr val="58696B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Image 18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B916A09C-A08F-896D-1962-548938288D4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0614"/>
          <a:stretch>
            <a:fillRect/>
          </a:stretch>
        </p:blipFill>
        <p:spPr>
          <a:xfrm>
            <a:off x="5091372" y="3891666"/>
            <a:ext cx="1731794" cy="2625964"/>
          </a:xfrm>
          <a:prstGeom prst="rect">
            <a:avLst/>
          </a:prstGeom>
          <a:ln w="57150">
            <a:solidFill>
              <a:srgbClr val="58696B"/>
            </a:solidFill>
          </a:ln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536A6C86-541B-5C48-A772-E33E341F9519}"/>
              </a:ext>
            </a:extLst>
          </p:cNvPr>
          <p:cNvSpPr txBox="1"/>
          <p:nvPr/>
        </p:nvSpPr>
        <p:spPr>
          <a:xfrm>
            <a:off x="8754680" y="1358219"/>
            <a:ext cx="2425700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800" b="1" u="sng" dirty="0" err="1">
                <a:solidFill>
                  <a:srgbClr val="58696B"/>
                </a:solidFill>
              </a:rPr>
              <a:t>Bowser</a:t>
            </a:r>
            <a:r>
              <a:rPr lang="fr-FR" sz="2800" b="1" u="sng" dirty="0">
                <a:solidFill>
                  <a:srgbClr val="58696B"/>
                </a:solidFill>
              </a:rPr>
              <a:t> Shell</a:t>
            </a:r>
          </a:p>
        </p:txBody>
      </p:sp>
      <p:pic>
        <p:nvPicPr>
          <p:cNvPr id="22" name="Image 21" descr="Une image contenant clipart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C9BC7923-1B53-9454-16D6-170EBC1565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0565" y="1309890"/>
            <a:ext cx="1879600" cy="187960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924A47DB-C965-3949-4D28-9BE1348E3422}"/>
              </a:ext>
            </a:extLst>
          </p:cNvPr>
          <p:cNvSpPr txBox="1"/>
          <p:nvPr/>
        </p:nvSpPr>
        <p:spPr>
          <a:xfrm>
            <a:off x="8810165" y="1989161"/>
            <a:ext cx="31918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Application Java (Linux) </a:t>
            </a:r>
            <a:r>
              <a:rPr lang="fr-FR" dirty="0"/>
              <a:t>: permettant de regrouper des outils pour faire des audits de sécurité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DB9E6A5-5038-6762-4B40-A0EBACD376E0}"/>
              </a:ext>
            </a:extLst>
          </p:cNvPr>
          <p:cNvSpPr txBox="1"/>
          <p:nvPr/>
        </p:nvSpPr>
        <p:spPr>
          <a:xfrm>
            <a:off x="8810165" y="3189490"/>
            <a:ext cx="3191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Scope : </a:t>
            </a:r>
            <a:r>
              <a:rPr lang="fr-FR" dirty="0"/>
              <a:t>CVE Web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8777F44-090F-F93F-8193-2B707E42DF46}"/>
              </a:ext>
            </a:extLst>
          </p:cNvPr>
          <p:cNvSpPr txBox="1"/>
          <p:nvPr/>
        </p:nvSpPr>
        <p:spPr>
          <a:xfrm>
            <a:off x="8810165" y="3656178"/>
            <a:ext cx="31918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Application Web (Linux) :</a:t>
            </a:r>
            <a:endParaRPr lang="fr-FR" dirty="0"/>
          </a:p>
          <a:p>
            <a:r>
              <a:rPr lang="fr-FR" dirty="0"/>
              <a:t>Tableau dynamique (recherche, tri, filtrage, pagination côté serveur)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621386-CB9E-EDB5-EF1D-E3C4A7CB7C21}"/>
              </a:ext>
            </a:extLst>
          </p:cNvPr>
          <p:cNvSpPr txBox="1"/>
          <p:nvPr/>
        </p:nvSpPr>
        <p:spPr>
          <a:xfrm>
            <a:off x="8810165" y="4953863"/>
            <a:ext cx="3191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M2M : </a:t>
            </a:r>
            <a:r>
              <a:rPr lang="fr-FR" dirty="0"/>
              <a:t>API REST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35AED94-9237-94DF-2937-4BB948D6218F}"/>
              </a:ext>
            </a:extLst>
          </p:cNvPr>
          <p:cNvSpPr txBox="1"/>
          <p:nvPr/>
        </p:nvSpPr>
        <p:spPr>
          <a:xfrm>
            <a:off x="8810165" y="5420551"/>
            <a:ext cx="3191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Application Android :</a:t>
            </a:r>
            <a:endParaRPr lang="fr-FR" dirty="0"/>
          </a:p>
          <a:p>
            <a:r>
              <a:rPr lang="fr-FR" dirty="0"/>
              <a:t>Visualisation des CVE</a:t>
            </a:r>
          </a:p>
        </p:txBody>
      </p:sp>
      <p:pic>
        <p:nvPicPr>
          <p:cNvPr id="11" name="Image 10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17DA416A-401F-7939-B96A-76FBDBEDF5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0141" y="3337791"/>
            <a:ext cx="1520176" cy="337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118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61A646D6-799B-FDE8-5D4C-D107054C05E1}"/>
              </a:ext>
            </a:extLst>
          </p:cNvPr>
          <p:cNvSpPr txBox="1"/>
          <p:nvPr/>
        </p:nvSpPr>
        <p:spPr>
          <a:xfrm>
            <a:off x="11379200" y="82550"/>
            <a:ext cx="73025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4000" dirty="0"/>
              <a:t>4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BDDB3BC-3B12-0D69-7253-855F80181FCA}"/>
              </a:ext>
            </a:extLst>
          </p:cNvPr>
          <p:cNvSpPr txBox="1"/>
          <p:nvPr/>
        </p:nvSpPr>
        <p:spPr>
          <a:xfrm>
            <a:off x="3598610" y="205660"/>
            <a:ext cx="4994779" cy="461665"/>
          </a:xfrm>
          <a:prstGeom prst="rect">
            <a:avLst/>
          </a:prstGeom>
          <a:noFill/>
          <a:ln w="38100">
            <a:solidFill>
              <a:srgbClr val="95B8B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400" dirty="0">
                <a:solidFill>
                  <a:schemeClr val="bg1"/>
                </a:solidFill>
              </a:rPr>
              <a:t>Principaux problèmes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C24174A9-3C71-BAEF-373A-798ED4004376}"/>
              </a:ext>
            </a:extLst>
          </p:cNvPr>
          <p:cNvGrpSpPr/>
          <p:nvPr/>
        </p:nvGrpSpPr>
        <p:grpSpPr>
          <a:xfrm>
            <a:off x="4602908" y="1433246"/>
            <a:ext cx="2852640" cy="4021033"/>
            <a:chOff x="4933291" y="386345"/>
            <a:chExt cx="2852640" cy="4021033"/>
          </a:xfrm>
        </p:grpSpPr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EF555170-A798-5236-5038-E18BB3164D69}"/>
                </a:ext>
              </a:extLst>
            </p:cNvPr>
            <p:cNvSpPr txBox="1"/>
            <p:nvPr/>
          </p:nvSpPr>
          <p:spPr>
            <a:xfrm>
              <a:off x="4933291" y="3484048"/>
              <a:ext cx="285264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u="sng" dirty="0" err="1">
                  <a:solidFill>
                    <a:schemeClr val="bg1"/>
                  </a:solidFill>
                </a:rPr>
                <a:t>FastApi</a:t>
              </a:r>
              <a:r>
                <a:rPr lang="fr-FR" b="1" u="sng" dirty="0">
                  <a:solidFill>
                    <a:schemeClr val="bg1"/>
                  </a:solidFill>
                </a:rPr>
                <a:t> :</a:t>
              </a:r>
              <a:r>
                <a:rPr lang="fr-FR" dirty="0">
                  <a:solidFill>
                    <a:schemeClr val="bg1"/>
                  </a:solidFill>
                </a:rPr>
                <a:t> Compliqué à comprendre pour le M2M Android/web</a:t>
              </a:r>
            </a:p>
          </p:txBody>
        </p:sp>
        <p:pic>
          <p:nvPicPr>
            <p:cNvPr id="3" name="Picture 6">
              <a:extLst>
                <a:ext uri="{FF2B5EF4-FFF2-40B4-BE49-F238E27FC236}">
                  <a16:creationId xmlns:a16="http://schemas.microsoft.com/office/drawing/2014/main" id="{16EC949C-5552-A85E-8D19-18629ADD25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0460"/>
            <a:stretch>
              <a:fillRect/>
            </a:stretch>
          </p:blipFill>
          <p:spPr bwMode="auto">
            <a:xfrm>
              <a:off x="5303124" y="386345"/>
              <a:ext cx="2112973" cy="200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8AEBBB41-48EB-1E14-DCC9-28B12ADCA006}"/>
              </a:ext>
            </a:extLst>
          </p:cNvPr>
          <p:cNvGrpSpPr/>
          <p:nvPr/>
        </p:nvGrpSpPr>
        <p:grpSpPr>
          <a:xfrm>
            <a:off x="898549" y="1084349"/>
            <a:ext cx="3717434" cy="4731808"/>
            <a:chOff x="856391" y="1267314"/>
            <a:chExt cx="3717434" cy="4731808"/>
          </a:xfrm>
        </p:grpSpPr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BAC58E2E-F909-A9FE-9B13-100590C19F62}"/>
                </a:ext>
              </a:extLst>
            </p:cNvPr>
            <p:cNvSpPr txBox="1"/>
            <p:nvPr/>
          </p:nvSpPr>
          <p:spPr>
            <a:xfrm>
              <a:off x="856391" y="4521794"/>
              <a:ext cx="3717434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chemeClr val="bg1"/>
                  </a:solidFill>
                </a:rPr>
                <a:t>Problèmes </a:t>
              </a:r>
              <a:r>
                <a:rPr lang="fr-FR" dirty="0" err="1">
                  <a:solidFill>
                    <a:schemeClr val="bg1"/>
                  </a:solidFill>
                </a:rPr>
                <a:t>dpkg</a:t>
              </a:r>
              <a:r>
                <a:rPr lang="fr-FR" dirty="0">
                  <a:solidFill>
                    <a:schemeClr val="bg1"/>
                  </a:solidFill>
                </a:rPr>
                <a:t>, </a:t>
              </a:r>
              <a:r>
                <a:rPr lang="fr-FR" dirty="0" err="1">
                  <a:solidFill>
                    <a:schemeClr val="bg1"/>
                  </a:solidFill>
                </a:rPr>
                <a:t>path</a:t>
              </a:r>
              <a:r>
                <a:rPr lang="fr-FR" dirty="0">
                  <a:solidFill>
                    <a:schemeClr val="bg1"/>
                  </a:solidFill>
                </a:rPr>
                <a:t> et root (voir email Masson)</a:t>
              </a:r>
            </a:p>
            <a:p>
              <a:pPr algn="ctr"/>
              <a:r>
                <a:rPr lang="fr-FR" dirty="0">
                  <a:solidFill>
                    <a:schemeClr val="bg1"/>
                  </a:solidFill>
                </a:rPr>
                <a:t>+ le </a:t>
              </a:r>
              <a:r>
                <a:rPr lang="fr-FR" dirty="0" err="1">
                  <a:solidFill>
                    <a:schemeClr val="bg1"/>
                  </a:solidFill>
                </a:rPr>
                <a:t>forwarding</a:t>
              </a:r>
              <a:r>
                <a:rPr lang="fr-FR" dirty="0">
                  <a:solidFill>
                    <a:schemeClr val="bg1"/>
                  </a:solidFill>
                </a:rPr>
                <a:t> et le réseau de la VM nous sont inconnus donc Tunnel SSH </a:t>
              </a:r>
              <a:r>
                <a:rPr lang="fr-FR" dirty="0">
                  <a:solidFill>
                    <a:schemeClr val="bg1"/>
                  </a:solidFill>
                  <a:sym typeface="Wingdings" panose="05000000000000000000" pitchFamily="2" charset="2"/>
                </a:rPr>
                <a:t></a:t>
              </a:r>
              <a:endParaRPr lang="fr-FR" dirty="0">
                <a:solidFill>
                  <a:schemeClr val="bg1"/>
                </a:solidFill>
              </a:endParaRPr>
            </a:p>
          </p:txBody>
        </p: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AC2D19EC-D61B-0BB2-2A66-895D744CAABD}"/>
                </a:ext>
              </a:extLst>
            </p:cNvPr>
            <p:cNvGrpSpPr/>
            <p:nvPr/>
          </p:nvGrpSpPr>
          <p:grpSpPr>
            <a:xfrm>
              <a:off x="1330611" y="1267314"/>
              <a:ext cx="2600673" cy="3263635"/>
              <a:chOff x="1330611" y="1267314"/>
              <a:chExt cx="2600673" cy="3263635"/>
            </a:xfrm>
          </p:grpSpPr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9AEEEE4-C440-436A-D421-A18BB2EC63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r="78069"/>
              <a:stretch>
                <a:fillRect/>
              </a:stretch>
            </p:blipFill>
            <p:spPr>
              <a:xfrm>
                <a:off x="2767068" y="3528807"/>
                <a:ext cx="1164216" cy="512883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99F489E-5482-2319-CD5D-41FF4F5294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807039" y="4305158"/>
                <a:ext cx="1816138" cy="225791"/>
              </a:xfrm>
              <a:prstGeom prst="rect">
                <a:avLst/>
              </a:prstGeom>
            </p:spPr>
          </p:pic>
          <p:pic>
            <p:nvPicPr>
              <p:cNvPr id="7" name="Picture 4" descr="VirtualBox - Wikipedia">
                <a:extLst>
                  <a:ext uri="{FF2B5EF4-FFF2-40B4-BE49-F238E27FC236}">
                    <a16:creationId xmlns:a16="http://schemas.microsoft.com/office/drawing/2014/main" id="{ED93115E-5A5B-6DA7-CF7D-E3CE9DA03E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47012" y="1267314"/>
                <a:ext cx="2176165" cy="18627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" name="Picture 6" descr="Enable Root Login via SSH (by using 4 Simple Steps)">
                <a:extLst>
                  <a:ext uri="{FF2B5EF4-FFF2-40B4-BE49-F238E27FC236}">
                    <a16:creationId xmlns:a16="http://schemas.microsoft.com/office/drawing/2014/main" id="{7D0DF7F8-E1A1-3FFC-85D9-49C41A3F8FF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30611" y="3532571"/>
                <a:ext cx="1204484" cy="5528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EEF32C21-3779-9E22-7D61-1CE32476B96F}"/>
              </a:ext>
            </a:extLst>
          </p:cNvPr>
          <p:cNvGrpSpPr/>
          <p:nvPr/>
        </p:nvGrpSpPr>
        <p:grpSpPr>
          <a:xfrm>
            <a:off x="7799230" y="1269128"/>
            <a:ext cx="3260730" cy="3964908"/>
            <a:chOff x="7932786" y="340852"/>
            <a:chExt cx="3260730" cy="3964908"/>
          </a:xfrm>
        </p:grpSpPr>
        <p:grpSp>
          <p:nvGrpSpPr>
            <p:cNvPr id="22" name="Groupe 21">
              <a:extLst>
                <a:ext uri="{FF2B5EF4-FFF2-40B4-BE49-F238E27FC236}">
                  <a16:creationId xmlns:a16="http://schemas.microsoft.com/office/drawing/2014/main" id="{FAC5034F-556D-E797-14FC-E3FF5ADC13EF}"/>
                </a:ext>
              </a:extLst>
            </p:cNvPr>
            <p:cNvGrpSpPr/>
            <p:nvPr/>
          </p:nvGrpSpPr>
          <p:grpSpPr>
            <a:xfrm>
              <a:off x="7932786" y="340852"/>
              <a:ext cx="3260730" cy="2788297"/>
              <a:chOff x="7932786" y="340852"/>
              <a:chExt cx="3260730" cy="2788297"/>
            </a:xfrm>
          </p:grpSpPr>
          <p:pic>
            <p:nvPicPr>
              <p:cNvPr id="1032" name="Picture 8" descr="Example Image">
                <a:extLst>
                  <a:ext uri="{FF2B5EF4-FFF2-40B4-BE49-F238E27FC236}">
                    <a16:creationId xmlns:a16="http://schemas.microsoft.com/office/drawing/2014/main" id="{154D571C-5ACE-ABCA-5D40-40D8885E6FA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932786" y="340852"/>
                <a:ext cx="1751171" cy="175117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4" name="Picture 10" descr="Flask (framework) — Wikipédia">
                <a:extLst>
                  <a:ext uri="{FF2B5EF4-FFF2-40B4-BE49-F238E27FC236}">
                    <a16:creationId xmlns:a16="http://schemas.microsoft.com/office/drawing/2014/main" id="{BC2A0993-C60E-41AF-9352-95055DE4DB4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039357" y="1914806"/>
                <a:ext cx="3102513" cy="12143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1" name="Picture 6">
                <a:extLst>
                  <a:ext uri="{FF2B5EF4-FFF2-40B4-BE49-F238E27FC236}">
                    <a16:creationId xmlns:a16="http://schemas.microsoft.com/office/drawing/2014/main" id="{CA6FE9F6-EE9A-050C-591F-746EF4AD4D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0460"/>
              <a:stretch>
                <a:fillRect/>
              </a:stretch>
            </p:blipFill>
            <p:spPr bwMode="auto">
              <a:xfrm>
                <a:off x="9848295" y="477060"/>
                <a:ext cx="1345221" cy="127647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7173B7FB-8D70-9AAD-DE5A-39F1C6F420A6}"/>
                </a:ext>
              </a:extLst>
            </p:cNvPr>
            <p:cNvSpPr txBox="1"/>
            <p:nvPr/>
          </p:nvSpPr>
          <p:spPr>
            <a:xfrm>
              <a:off x="8094925" y="3659429"/>
              <a:ext cx="28526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chemeClr val="bg1"/>
                  </a:solidFill>
                </a:rPr>
                <a:t>Faire cohabiter différents </a:t>
              </a:r>
              <a:r>
                <a:rPr lang="fr-FR" dirty="0" err="1">
                  <a:solidFill>
                    <a:schemeClr val="bg1"/>
                  </a:solidFill>
                </a:rPr>
                <a:t>frameworks</a:t>
              </a:r>
              <a:endParaRPr lang="fr-FR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1334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34518A5-1C9D-79F3-349C-3E7AAFD9895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 rtl="0"/>
              <a:t>5</a:t>
            </a:fld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9A9209E-7505-F03E-B85E-9125937CEF24}"/>
              </a:ext>
            </a:extLst>
          </p:cNvPr>
          <p:cNvSpPr txBox="1"/>
          <p:nvPr/>
        </p:nvSpPr>
        <p:spPr>
          <a:xfrm>
            <a:off x="11379200" y="82550"/>
            <a:ext cx="73025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4000" dirty="0"/>
              <a:t>5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0B8E1DD7-CE69-B8B4-F688-0B316E23D44E}"/>
              </a:ext>
            </a:extLst>
          </p:cNvPr>
          <p:cNvSpPr txBox="1"/>
          <p:nvPr/>
        </p:nvSpPr>
        <p:spPr>
          <a:xfrm>
            <a:off x="4533900" y="146050"/>
            <a:ext cx="3727450" cy="461665"/>
          </a:xfrm>
          <a:prstGeom prst="rect">
            <a:avLst/>
          </a:prstGeom>
          <a:noFill/>
          <a:ln w="38100">
            <a:solidFill>
              <a:srgbClr val="95B8B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Gestion du planning</a:t>
            </a:r>
          </a:p>
        </p:txBody>
      </p:sp>
      <p:pic>
        <p:nvPicPr>
          <p:cNvPr id="15" name="Image 14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B8315196-208A-555F-C87F-D81371CD2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996" y="1421710"/>
            <a:ext cx="6033913" cy="4445353"/>
          </a:xfrm>
          <a:prstGeom prst="rect">
            <a:avLst/>
          </a:prstGeom>
        </p:spPr>
      </p:pic>
      <p:sp>
        <p:nvSpPr>
          <p:cNvPr id="25" name="ZoneTexte 24">
            <a:extLst>
              <a:ext uri="{FF2B5EF4-FFF2-40B4-BE49-F238E27FC236}">
                <a16:creationId xmlns:a16="http://schemas.microsoft.com/office/drawing/2014/main" id="{BA98BF44-9147-5F75-2F86-2EA02EF443EF}"/>
              </a:ext>
            </a:extLst>
          </p:cNvPr>
          <p:cNvSpPr txBox="1"/>
          <p:nvPr/>
        </p:nvSpPr>
        <p:spPr>
          <a:xfrm>
            <a:off x="8458288" y="1345606"/>
            <a:ext cx="2425700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800" b="1" u="sng" dirty="0" err="1">
                <a:solidFill>
                  <a:srgbClr val="58696B"/>
                </a:solidFill>
              </a:rPr>
              <a:t>Bowser</a:t>
            </a:r>
            <a:r>
              <a:rPr lang="fr-FR" sz="2800" b="1" u="sng" dirty="0">
                <a:solidFill>
                  <a:srgbClr val="58696B"/>
                </a:solidFill>
              </a:rPr>
              <a:t> Shell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514E3D99-713B-61B7-BEE9-7013177E5FB0}"/>
              </a:ext>
            </a:extLst>
          </p:cNvPr>
          <p:cNvSpPr txBox="1"/>
          <p:nvPr/>
        </p:nvSpPr>
        <p:spPr>
          <a:xfrm>
            <a:off x="8187314" y="1919792"/>
            <a:ext cx="31918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Ressenti :</a:t>
            </a:r>
          </a:p>
          <a:p>
            <a:r>
              <a:rPr lang="fr-FR" dirty="0"/>
              <a:t>C’était un peu serré avec l’alternance mais sinon ça va bien.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0DCDEFE6-806F-172E-02AE-D7BA37FE190D}"/>
              </a:ext>
            </a:extLst>
          </p:cNvPr>
          <p:cNvSpPr txBox="1"/>
          <p:nvPr/>
        </p:nvSpPr>
        <p:spPr>
          <a:xfrm>
            <a:off x="8187314" y="3120121"/>
            <a:ext cx="31918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Test / QA :</a:t>
            </a:r>
          </a:p>
          <a:p>
            <a:r>
              <a:rPr lang="fr-FR" dirty="0"/>
              <a:t>On a eu le temps de test sur la VM linux, l’app Java et Web à chaque release.</a:t>
            </a:r>
          </a:p>
        </p:txBody>
      </p:sp>
      <p:pic>
        <p:nvPicPr>
          <p:cNvPr id="2051" name="Picture 3" descr="The QA Force is strong with this one - Yoda Meme Generator">
            <a:extLst>
              <a:ext uri="{FF2B5EF4-FFF2-40B4-BE49-F238E27FC236}">
                <a16:creationId xmlns:a16="http://schemas.microsoft.com/office/drawing/2014/main" id="{69ABD803-BC31-1520-6BC4-D493C5A9B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2382" y="4527541"/>
            <a:ext cx="1690065" cy="2028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4382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D444EDC2-BFBF-920F-CB70-9AF73246605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18D65601-5AE2-46FC-B138-694DDD2B510D}" type="slidenum">
              <a:rPr lang="fr-FR" smtClean="0"/>
              <a:pPr rtl="0"/>
              <a:t>6</a:t>
            </a:fld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C03288-A801-FD5C-DF0F-FAB59FA2DB3B}"/>
              </a:ext>
            </a:extLst>
          </p:cNvPr>
          <p:cNvSpPr txBox="1"/>
          <p:nvPr/>
        </p:nvSpPr>
        <p:spPr>
          <a:xfrm>
            <a:off x="11379200" y="82550"/>
            <a:ext cx="73025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4000" dirty="0"/>
              <a:t>6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9E4B9C96-9856-06C1-92AB-4FF9C6EFF467}"/>
              </a:ext>
            </a:extLst>
          </p:cNvPr>
          <p:cNvSpPr txBox="1"/>
          <p:nvPr/>
        </p:nvSpPr>
        <p:spPr>
          <a:xfrm>
            <a:off x="4533900" y="146050"/>
            <a:ext cx="3727450" cy="461665"/>
          </a:xfrm>
          <a:prstGeom prst="rect">
            <a:avLst/>
          </a:prstGeom>
          <a:noFill/>
          <a:ln w="38100">
            <a:solidFill>
              <a:srgbClr val="95B8B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Pistes futures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BA30D93-6D4B-334F-95DF-B07F037EAC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119" y="1242583"/>
            <a:ext cx="4687613" cy="1044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E9DD43CD-3ED3-740B-2208-2CC9B2E8D5FD}"/>
              </a:ext>
            </a:extLst>
          </p:cNvPr>
          <p:cNvSpPr txBox="1"/>
          <p:nvPr/>
        </p:nvSpPr>
        <p:spPr>
          <a:xfrm>
            <a:off x="7386426" y="1242583"/>
            <a:ext cx="31918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Fork de </a:t>
            </a:r>
            <a:r>
              <a:rPr lang="fr-FR" b="1" u="sng" dirty="0" err="1"/>
              <a:t>metasploit</a:t>
            </a:r>
            <a:r>
              <a:rPr lang="fr-FR" b="1" u="sng" dirty="0"/>
              <a:t> :</a:t>
            </a:r>
          </a:p>
          <a:p>
            <a:r>
              <a:rPr lang="fr-FR" dirty="0"/>
              <a:t>Devenir une alternative à </a:t>
            </a:r>
            <a:r>
              <a:rPr lang="fr-FR" dirty="0" err="1"/>
              <a:t>metasploit</a:t>
            </a:r>
            <a:endParaRPr lang="fr-FR" dirty="0"/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5C6D2D93-0BBF-C184-7F5F-E6B150690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668" y="3167608"/>
            <a:ext cx="2176108" cy="1165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CCD1FD23-9F3E-4F70-06D5-65B316F89A0C}"/>
              </a:ext>
            </a:extLst>
          </p:cNvPr>
          <p:cNvSpPr txBox="1"/>
          <p:nvPr/>
        </p:nvSpPr>
        <p:spPr>
          <a:xfrm>
            <a:off x="5738385" y="3292325"/>
            <a:ext cx="26898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Outils :</a:t>
            </a:r>
          </a:p>
          <a:p>
            <a:r>
              <a:rPr lang="fr-FR" dirty="0"/>
              <a:t>Rajoutez d’autres outils comme NMAP</a:t>
            </a:r>
          </a:p>
        </p:txBody>
      </p:sp>
      <p:pic>
        <p:nvPicPr>
          <p:cNvPr id="16" name="Picture 4" descr="Android Studio Icon SVG Vector &amp; PNG Free Download | UXWing">
            <a:extLst>
              <a:ext uri="{FF2B5EF4-FFF2-40B4-BE49-F238E27FC236}">
                <a16:creationId xmlns:a16="http://schemas.microsoft.com/office/drawing/2014/main" id="{EFDC7E9A-7A26-BEE3-CDC9-54F39BE701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6576" y="4570471"/>
            <a:ext cx="1766658" cy="1766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E14962F0-2379-B4CB-3908-E70B7EB06E05}"/>
              </a:ext>
            </a:extLst>
          </p:cNvPr>
          <p:cNvSpPr txBox="1"/>
          <p:nvPr/>
        </p:nvSpPr>
        <p:spPr>
          <a:xfrm>
            <a:off x="3775679" y="5220450"/>
            <a:ext cx="4652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UX (Expérience utilisateur) :</a:t>
            </a:r>
          </a:p>
          <a:p>
            <a:r>
              <a:rPr lang="fr-FR" dirty="0"/>
              <a:t>Refaire le design.</a:t>
            </a:r>
          </a:p>
        </p:txBody>
      </p:sp>
    </p:spTree>
    <p:extLst>
      <p:ext uri="{BB962C8B-B14F-4D97-AF65-F5344CB8AC3E}">
        <p14:creationId xmlns:p14="http://schemas.microsoft.com/office/powerpoint/2010/main" val="1669023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F101732C-7338-DBA0-BD19-1FA883047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4" y="690511"/>
            <a:ext cx="3778169" cy="3307331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Merci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F13BA5-0410-1C7C-0DC1-0300D67D372D}"/>
              </a:ext>
            </a:extLst>
          </p:cNvPr>
          <p:cNvSpPr txBox="1"/>
          <p:nvPr/>
        </p:nvSpPr>
        <p:spPr>
          <a:xfrm>
            <a:off x="11379200" y="82550"/>
            <a:ext cx="73025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4000" dirty="0"/>
              <a:t>7</a:t>
            </a:r>
          </a:p>
        </p:txBody>
      </p:sp>
      <p:pic>
        <p:nvPicPr>
          <p:cNvPr id="4098" name="Picture 2" descr="BladeRunnerJS Sprint Demos">
            <a:extLst>
              <a:ext uri="{FF2B5EF4-FFF2-40B4-BE49-F238E27FC236}">
                <a16:creationId xmlns:a16="http://schemas.microsoft.com/office/drawing/2014/main" id="{CF3E162B-AA18-7886-D504-0B6D3278A8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791"/>
          <a:stretch>
            <a:fillRect/>
          </a:stretch>
        </p:blipFill>
        <p:spPr bwMode="auto">
          <a:xfrm>
            <a:off x="5994021" y="1541418"/>
            <a:ext cx="3810000" cy="3551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4370842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Custom 2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8696B"/>
      </a:accent1>
      <a:accent2>
        <a:srgbClr val="95B8BF"/>
      </a:accent2>
      <a:accent3>
        <a:srgbClr val="BFD4D9"/>
      </a:accent3>
      <a:accent4>
        <a:srgbClr val="5B4839"/>
      </a:accent4>
      <a:accent5>
        <a:srgbClr val="C3A398"/>
      </a:accent5>
      <a:accent6>
        <a:srgbClr val="CA553E"/>
      </a:accent6>
      <a:hlink>
        <a:srgbClr val="0563C1"/>
      </a:hlink>
      <a:folHlink>
        <a:srgbClr val="954F72"/>
      </a:folHlink>
    </a:clrScheme>
    <a:fontScheme name="Custom 30">
      <a:majorFont>
        <a:latin typeface="Tisa Offc Serif Pro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accent5">
              <a:lumMod val="20000"/>
              <a:lumOff val="8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72938328_TF78544816_Win32" id="{92BE2C3D-300F-4B9F-910D-D2787EDDC4E0}" vid="{8BF88667-91EE-4F49-BD92-7DB8827BD33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090ABD94B10FA4A9EA32FB3306DEBEF" ma:contentTypeVersion="11" ma:contentTypeDescription="Crée un document." ma:contentTypeScope="" ma:versionID="7b1ed41425f213d3d81fa48624cb4d75">
  <xsd:schema xmlns:xsd="http://www.w3.org/2001/XMLSchema" xmlns:xs="http://www.w3.org/2001/XMLSchema" xmlns:p="http://schemas.microsoft.com/office/2006/metadata/properties" xmlns:ns3="da6af751-cc88-47d1-b60e-0f71f20c559f" targetNamespace="http://schemas.microsoft.com/office/2006/metadata/properties" ma:root="true" ma:fieldsID="59b71e63350cc17fec7dff2c6594b3c4" ns3:_="">
    <xsd:import namespace="da6af751-cc88-47d1-b60e-0f71f20c559f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LengthInSecond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6af751-cc88-47d1-b60e-0f71f20c559f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a6af751-cc88-47d1-b60e-0f71f20c559f" xsi:nil="true"/>
  </documentManagement>
</p:properties>
</file>

<file path=customXml/itemProps1.xml><?xml version="1.0" encoding="utf-8"?>
<ds:datastoreItem xmlns:ds="http://schemas.openxmlformats.org/officeDocument/2006/customXml" ds:itemID="{B3C8BD9B-CD6E-4210-BCC2-124F7B78E75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6af751-cc88-47d1-b60e-0f71f20c55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DE3707C-8CAB-4302-B7E1-D32E1543E05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FDB7358-0BCB-4DEB-B717-C1D7CC555F05}">
  <ds:schemaRefs>
    <ds:schemaRef ds:uri="http://purl.org/dc/terms/"/>
    <ds:schemaRef ds:uri="http://www.w3.org/XML/1998/namespace"/>
    <ds:schemaRef ds:uri="http://schemas.microsoft.com/office/2006/documentManagement/types"/>
    <ds:schemaRef ds:uri="http://purl.org/dc/elements/1.1/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da6af751-cc88-47d1-b60e-0f71f20c559f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Présentation de conférence moderne</Template>
  <TotalTime>252</TotalTime>
  <Words>221</Words>
  <Application>Microsoft Office PowerPoint</Application>
  <PresentationFormat>Grand écran</PresentationFormat>
  <Paragraphs>61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3" baseType="lpstr">
      <vt:lpstr>Arial</vt:lpstr>
      <vt:lpstr>Calibri</vt:lpstr>
      <vt:lpstr>Tisa Offc Serif Pro</vt:lpstr>
      <vt:lpstr>Univers Light</vt:lpstr>
      <vt:lpstr>Wingdings</vt:lpstr>
      <vt:lpstr>Personnalisé</vt:lpstr>
      <vt:lpstr>Développer des applications communicantes</vt:lpstr>
      <vt:lpstr>Ordre du jour</vt:lpstr>
      <vt:lpstr>Présentation PowerPoint</vt:lpstr>
      <vt:lpstr>Présentation PowerPoint</vt:lpstr>
      <vt:lpstr>Présentation PowerPoint</vt:lpstr>
      <vt:lpstr>Présentation PowerPoint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Julien Gombert</dc:creator>
  <cp:lastModifiedBy>Julien Gombert</cp:lastModifiedBy>
  <cp:revision>5</cp:revision>
  <dcterms:created xsi:type="dcterms:W3CDTF">2026-01-23T18:13:47Z</dcterms:created>
  <dcterms:modified xsi:type="dcterms:W3CDTF">2026-01-24T18:53:32Z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0x0101005090ABD94B10FA4A9EA32FB3306DEBEF</vt:lpwstr>
  </property>
</Properties>
</file>