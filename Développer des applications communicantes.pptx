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22" r:id="rId5"/>
    <p:sldId id="321" r:id="rId6"/>
    <p:sldId id="320" r:id="rId7"/>
    <p:sldId id="317" r:id="rId8"/>
    <p:sldId id="316" r:id="rId9"/>
    <p:sldId id="311" r:id="rId10"/>
    <p:sldId id="310" r:id="rId11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96B"/>
    <a:srgbClr val="95B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707D72-E164-4655-A546-E182E8C7763E}" v="139" dt="2026-01-24T08:42:39.489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1" autoAdjust="0"/>
    <p:restoredTop sz="95388" autoAdjust="0"/>
  </p:normalViewPr>
  <p:slideViewPr>
    <p:cSldViewPr snapToGrid="0">
      <p:cViewPr varScale="1">
        <p:scale>
          <a:sx n="152" d="100"/>
          <a:sy n="152" d="100"/>
        </p:scale>
        <p:origin x="354" y="13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90" y="1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304D1E54-CEB5-487A-9C8E-A467A3D6E586}" type="datetime1">
              <a:rPr lang="fr-FR" smtClean="0"/>
              <a:t>24/01/2026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00AC623C-86E0-4A85-83FB-F4A716956FD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fld id="{0320EF33-4155-4B10-9F22-7C135C3837D0}" type="datetime1">
              <a:rPr lang="fr-FR" smtClean="0"/>
              <a:pPr/>
              <a:t>24/01/2026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C37D7554-D10C-4E29-B8E6-BB7111FA614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37D7554-D10C-4E29-B8E6-BB7111FA614F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234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37D7554-D10C-4E29-B8E6-BB7111FA614F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884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37D7554-D10C-4E29-B8E6-BB7111FA614F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0935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37D7554-D10C-4E29-B8E6-BB7111FA614F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6248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37D7554-D10C-4E29-B8E6-BB7111FA614F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4190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37D7554-D10C-4E29-B8E6-BB7111FA614F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8039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37D7554-D10C-4E29-B8E6-BB7111FA614F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416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rtlCol="0" anchor="b">
            <a:normAutofit/>
          </a:bodyPr>
          <a:lstStyle>
            <a:lvl1pPr>
              <a:defRPr lang="fr-FR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 rtlCol="0">
            <a:normAutofit/>
          </a:bodyPr>
          <a:lstStyle>
            <a:lvl1pPr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2" name="Espace réservé du contenu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rtlCol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18D65601-5AE2-46FC-B138-694DDD2B510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imag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rtlCol="0" anchor="b">
            <a:normAutofit/>
          </a:bodyPr>
          <a:lstStyle>
            <a:lvl1pPr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lvl1pPr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fr-FR"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2" name="Espace réservé du contenu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18D65601-5AE2-46FC-B138-694DDD2B510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rtlCol="0" anchor="b"/>
          <a:lstStyle>
            <a:lvl1pPr algn="ctr">
              <a:defRPr lang="fr-FR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9" name="Espace réservé du texte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fr-FR"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2 contenus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2" name="Espace réservé du contenu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fr-FR"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contenu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fr-FR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18D65601-5AE2-46FC-B138-694DDD2B510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2 contenus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" name="Espace réservé du contenu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fr-FR"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lang="fr-FR"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lang="fr-FR"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lang="fr-FR"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contenu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fr-FR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18D65601-5AE2-46FC-B138-694DDD2B510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image et contenu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2" name="Espace réservé du contenu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fr-FR"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18D65601-5AE2-46FC-B138-694DDD2B510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2" name="Espace réservé du contenu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4" name="Espace réservé du tableau 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 rtlCol="0">
            <a:normAutofit/>
          </a:bodyPr>
          <a:lstStyle>
            <a:lvl1pPr>
              <a:defRPr lang="fr-FR" sz="2000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18D65601-5AE2-46FC-B138-694DDD2B510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2 contenus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r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 rtlCol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fr-FR" sz="2000"/>
            </a:lvl1pPr>
            <a:lvl2pPr>
              <a:lnSpc>
                <a:spcPct val="100000"/>
              </a:lnSpc>
              <a:spcAft>
                <a:spcPts val="600"/>
              </a:spcAft>
              <a:defRPr lang="fr-FR"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lang="fr-FR" sz="2000"/>
            </a:lvl3pPr>
            <a:lvl4pPr>
              <a:lnSpc>
                <a:spcPct val="100000"/>
              </a:lnSpc>
              <a:spcAft>
                <a:spcPts val="1200"/>
              </a:spcAft>
              <a:defRPr lang="fr-FR" sz="2000"/>
            </a:lvl4pPr>
            <a:lvl5pPr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1" name="Espace réservé du contenu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fr-FR"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fr-FR" sz="2000"/>
            </a:lvl2pPr>
            <a:lvl3pPr marL="1257300" indent="-342900">
              <a:buFont typeface="Arial" panose="020B0604020202020204" pitchFamily="34" charset="0"/>
              <a:buChar char="•"/>
              <a:defRPr lang="fr-FR" sz="2000"/>
            </a:lvl3pPr>
            <a:lvl4pPr marL="1714500" indent="-342900">
              <a:buFont typeface="Arial" panose="020B0604020202020204" pitchFamily="34" charset="0"/>
              <a:buChar char="•"/>
              <a:defRPr lang="fr-FR" sz="2000"/>
            </a:lvl4pPr>
            <a:lvl5pPr marL="2171700" indent="-342900">
              <a:buFont typeface="Arial" panose="020B0604020202020204" pitchFamily="34" charset="0"/>
              <a:buChar char="•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18D65601-5AE2-46FC-B138-694DDD2B510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ableau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r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9" name="Espace réservé du tableau 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 rtlCol="0">
            <a:normAutofit/>
          </a:bodyPr>
          <a:lstStyle>
            <a:lvl1pPr>
              <a:defRPr lang="fr-FR" sz="2400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18D65601-5AE2-46FC-B138-694DDD2B510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rtlCol="0" anchor="b">
            <a:normAutofit/>
          </a:bodyPr>
          <a:lstStyle>
            <a:lvl1pPr>
              <a:defRPr lang="fr-FR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18D65601-5AE2-46FC-B138-694DDD2B510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83" y="233333"/>
            <a:ext cx="5612906" cy="2765272"/>
          </a:xfrm>
        </p:spPr>
        <p:txBody>
          <a:bodyPr rtlCol="0">
            <a:normAutofit fontScale="90000"/>
          </a:bodyPr>
          <a:lstStyle>
            <a:defPPr>
              <a:defRPr lang="fr-FR"/>
            </a:defPPr>
          </a:lstStyle>
          <a:p>
            <a:r>
              <a:rPr lang="fr-FR" b="1" dirty="0"/>
              <a:t>Développer des applications communicantes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8C77EC2-4078-C0B3-2AA9-322137045049}"/>
              </a:ext>
            </a:extLst>
          </p:cNvPr>
          <p:cNvSpPr txBox="1"/>
          <p:nvPr/>
        </p:nvSpPr>
        <p:spPr>
          <a:xfrm>
            <a:off x="9839785" y="5657671"/>
            <a:ext cx="2352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GOMBERT  Julien</a:t>
            </a:r>
          </a:p>
          <a:p>
            <a:pPr algn="r"/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BERTEAU  Yoann</a:t>
            </a:r>
          </a:p>
          <a:p>
            <a:pPr algn="r"/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BAZIN  Titouan</a:t>
            </a:r>
          </a:p>
          <a:p>
            <a:pPr algn="r"/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CAILLET  Adrien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0A2B84A-E392-4C8A-F1A2-700CE1E3A13A}"/>
              </a:ext>
            </a:extLst>
          </p:cNvPr>
          <p:cNvSpPr txBox="1"/>
          <p:nvPr/>
        </p:nvSpPr>
        <p:spPr>
          <a:xfrm>
            <a:off x="-49397" y="5173824"/>
            <a:ext cx="1026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SAE 32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9C6D99F-C526-B5DB-27FB-856B9749092F}"/>
              </a:ext>
            </a:extLst>
          </p:cNvPr>
          <p:cNvSpPr txBox="1"/>
          <p:nvPr/>
        </p:nvSpPr>
        <p:spPr>
          <a:xfrm>
            <a:off x="41517" y="5543156"/>
            <a:ext cx="845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>
                    <a:lumMod val="95000"/>
                  </a:schemeClr>
                </a:solidFill>
              </a:rPr>
              <a:t>27/01</a:t>
            </a:r>
          </a:p>
        </p:txBody>
      </p:sp>
      <p:pic>
        <p:nvPicPr>
          <p:cNvPr id="7" name="Image 6" descr="Une image contenant capture d’écran, dessin humoristiqu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5919D51C-A7FD-6408-FC31-808CBA605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100" y="1985204"/>
            <a:ext cx="1288485" cy="115645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FC55E44-E72C-8053-1EC7-8FE2E1B68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965" y="2749596"/>
            <a:ext cx="1301770" cy="234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ndroid Studio Icon SVG Vector &amp; PNG Free Download | UXWing">
            <a:extLst>
              <a:ext uri="{FF2B5EF4-FFF2-40B4-BE49-F238E27FC236}">
                <a16:creationId xmlns:a16="http://schemas.microsoft.com/office/drawing/2014/main" id="{0A9C91B5-E7D1-A68E-6971-6A5DF84C2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547" y="3276600"/>
            <a:ext cx="325755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999" y="1600715"/>
            <a:ext cx="2951317" cy="882135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/>
            <a:r>
              <a:rPr lang="fr-FR" dirty="0"/>
              <a:t>Ordre du jour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Introduction</a:t>
            </a:r>
          </a:p>
          <a:p>
            <a:pPr rtl="0"/>
            <a:endParaRPr lang="fr-FR" dirty="0"/>
          </a:p>
          <a:p>
            <a:pPr rtl="0"/>
            <a:r>
              <a:rPr lang="fr-FR" dirty="0"/>
              <a:t>Présentation du produit</a:t>
            </a:r>
          </a:p>
          <a:p>
            <a:pPr rtl="0"/>
            <a:endParaRPr lang="fr-FR" dirty="0"/>
          </a:p>
          <a:p>
            <a:r>
              <a:rPr lang="fr-FR" dirty="0"/>
              <a:t>Les principaux</a:t>
            </a:r>
            <a:br>
              <a:rPr lang="fr-FR" dirty="0"/>
            </a:br>
            <a:r>
              <a:rPr lang="fr-FR" dirty="0"/>
              <a:t>problèmes rencontrés</a:t>
            </a:r>
          </a:p>
          <a:p>
            <a:endParaRPr lang="fr-FR" dirty="0"/>
          </a:p>
          <a:p>
            <a:pPr rtl="0"/>
            <a:r>
              <a:rPr lang="fr-FR" dirty="0"/>
              <a:t>La gestion du planning</a:t>
            </a:r>
          </a:p>
          <a:p>
            <a:pPr rtl="0"/>
            <a:endParaRPr lang="fr-FR" dirty="0"/>
          </a:p>
          <a:p>
            <a:pPr rtl="0"/>
            <a:r>
              <a:rPr lang="fr-FR" dirty="0"/>
              <a:t>Les pistes futures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18D65601-5AE2-46FC-B138-694DDD2B510D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1FD957F-9F2A-E638-AB62-4CC8ADF9D8C4}"/>
              </a:ext>
            </a:extLst>
          </p:cNvPr>
          <p:cNvSpPr txBox="1"/>
          <p:nvPr/>
        </p:nvSpPr>
        <p:spPr>
          <a:xfrm>
            <a:off x="11379200" y="82550"/>
            <a:ext cx="730250" cy="707886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/>
              <a:t>2</a:t>
            </a:r>
          </a:p>
        </p:txBody>
      </p:sp>
      <p:pic>
        <p:nvPicPr>
          <p:cNvPr id="11" name="Image 10" descr="Une image contenant chaise, meubles, monochrome, noir et blanc&#10;&#10;Le contenu généré par l’IA peut être incorrect.">
            <a:extLst>
              <a:ext uri="{FF2B5EF4-FFF2-40B4-BE49-F238E27FC236}">
                <a16:creationId xmlns:a16="http://schemas.microsoft.com/office/drawing/2014/main" id="{2B6D1BEB-471C-BF87-559B-C59019B98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583" y="2596110"/>
            <a:ext cx="3740150" cy="326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2D7A7560-C4EC-BBA5-27A0-E9481726BB11}"/>
              </a:ext>
            </a:extLst>
          </p:cNvPr>
          <p:cNvSpPr txBox="1"/>
          <p:nvPr/>
        </p:nvSpPr>
        <p:spPr>
          <a:xfrm>
            <a:off x="11379200" y="82550"/>
            <a:ext cx="730250" cy="707886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/>
              <a:t>3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C35B2DA-8E38-D949-B9BD-587D007F80C5}"/>
              </a:ext>
            </a:extLst>
          </p:cNvPr>
          <p:cNvSpPr txBox="1"/>
          <p:nvPr/>
        </p:nvSpPr>
        <p:spPr>
          <a:xfrm>
            <a:off x="4533900" y="146050"/>
            <a:ext cx="3727450" cy="461665"/>
          </a:xfrm>
          <a:prstGeom prst="rect">
            <a:avLst/>
          </a:prstGeom>
          <a:noFill/>
          <a:ln w="38100">
            <a:solidFill>
              <a:srgbClr val="95B8B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Présentation du produit</a:t>
            </a:r>
          </a:p>
        </p:txBody>
      </p:sp>
      <p:pic>
        <p:nvPicPr>
          <p:cNvPr id="16" name="Image 1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16F8FB0-0593-E40D-047E-42E0EFDD6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314" y="4185659"/>
            <a:ext cx="3620083" cy="2331971"/>
          </a:xfrm>
          <a:prstGeom prst="rect">
            <a:avLst/>
          </a:prstGeom>
          <a:ln w="57150">
            <a:solidFill>
              <a:srgbClr val="58696B"/>
            </a:solidFill>
          </a:ln>
        </p:spPr>
      </p:pic>
      <p:pic>
        <p:nvPicPr>
          <p:cNvPr id="13322" name="Picture 10">
            <a:extLst>
              <a:ext uri="{FF2B5EF4-FFF2-40B4-BE49-F238E27FC236}">
                <a16:creationId xmlns:a16="http://schemas.microsoft.com/office/drawing/2014/main" id="{EF395663-286C-C4C8-C854-668735B25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216" y="1381285"/>
            <a:ext cx="5695950" cy="1989681"/>
          </a:xfrm>
          <a:prstGeom prst="rect">
            <a:avLst/>
          </a:prstGeom>
          <a:noFill/>
          <a:ln w="57150">
            <a:solidFill>
              <a:srgbClr val="58696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916A09C-A08F-896D-1962-548938288D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0614"/>
          <a:stretch>
            <a:fillRect/>
          </a:stretch>
        </p:blipFill>
        <p:spPr>
          <a:xfrm>
            <a:off x="5091372" y="3891666"/>
            <a:ext cx="1731794" cy="2625964"/>
          </a:xfrm>
          <a:prstGeom prst="rect">
            <a:avLst/>
          </a:prstGeom>
          <a:ln w="57150">
            <a:solidFill>
              <a:srgbClr val="58696B"/>
            </a:solidFill>
          </a:ln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536A6C86-541B-5C48-A772-E33E341F9519}"/>
              </a:ext>
            </a:extLst>
          </p:cNvPr>
          <p:cNvSpPr txBox="1"/>
          <p:nvPr/>
        </p:nvSpPr>
        <p:spPr>
          <a:xfrm>
            <a:off x="8754680" y="1358219"/>
            <a:ext cx="2425700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b="1" u="sng" dirty="0" err="1">
                <a:solidFill>
                  <a:srgbClr val="58696B"/>
                </a:solidFill>
              </a:rPr>
              <a:t>Bowser</a:t>
            </a:r>
            <a:r>
              <a:rPr lang="fr-FR" sz="2800" b="1" u="sng" dirty="0">
                <a:solidFill>
                  <a:srgbClr val="58696B"/>
                </a:solidFill>
              </a:rPr>
              <a:t> Shell</a:t>
            </a:r>
          </a:p>
        </p:txBody>
      </p:sp>
      <p:pic>
        <p:nvPicPr>
          <p:cNvPr id="22" name="Image 21" descr="Une image contenant clipart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C9BC7923-1B53-9454-16D6-170EBC1565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0565" y="1309890"/>
            <a:ext cx="1879600" cy="187960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924A47DB-C965-3949-4D28-9BE1348E3422}"/>
              </a:ext>
            </a:extLst>
          </p:cNvPr>
          <p:cNvSpPr txBox="1"/>
          <p:nvPr/>
        </p:nvSpPr>
        <p:spPr>
          <a:xfrm>
            <a:off x="8810165" y="1989161"/>
            <a:ext cx="319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Application Java (Linux) </a:t>
            </a:r>
            <a:r>
              <a:rPr lang="fr-FR" dirty="0"/>
              <a:t>: permettant de regrouper des outils pour faire des audits de sécurité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DB9E6A5-5038-6762-4B40-A0EBACD376E0}"/>
              </a:ext>
            </a:extLst>
          </p:cNvPr>
          <p:cNvSpPr txBox="1"/>
          <p:nvPr/>
        </p:nvSpPr>
        <p:spPr>
          <a:xfrm>
            <a:off x="8810165" y="3189490"/>
            <a:ext cx="319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Scope : </a:t>
            </a:r>
            <a:r>
              <a:rPr lang="fr-FR" dirty="0"/>
              <a:t>CVE Web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777F44-090F-F93F-8193-2B707E42DF46}"/>
              </a:ext>
            </a:extLst>
          </p:cNvPr>
          <p:cNvSpPr txBox="1"/>
          <p:nvPr/>
        </p:nvSpPr>
        <p:spPr>
          <a:xfrm>
            <a:off x="8810165" y="3656178"/>
            <a:ext cx="319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Application Web (Linux) :</a:t>
            </a:r>
            <a:endParaRPr lang="fr-FR" dirty="0"/>
          </a:p>
          <a:p>
            <a:r>
              <a:rPr lang="fr-FR" dirty="0"/>
              <a:t>Tableau dynamique (recherche, tri, filtrage, pagination côté serveur)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8621386-CB9E-EDB5-EF1D-E3C4A7CB7C21}"/>
              </a:ext>
            </a:extLst>
          </p:cNvPr>
          <p:cNvSpPr txBox="1"/>
          <p:nvPr/>
        </p:nvSpPr>
        <p:spPr>
          <a:xfrm>
            <a:off x="8810165" y="4953863"/>
            <a:ext cx="319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M2M : </a:t>
            </a:r>
            <a:r>
              <a:rPr lang="fr-FR" dirty="0"/>
              <a:t>API REST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35AED94-9237-94DF-2937-4BB948D6218F}"/>
              </a:ext>
            </a:extLst>
          </p:cNvPr>
          <p:cNvSpPr txBox="1"/>
          <p:nvPr/>
        </p:nvSpPr>
        <p:spPr>
          <a:xfrm>
            <a:off x="8810165" y="5420551"/>
            <a:ext cx="3191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Application Android :</a:t>
            </a:r>
            <a:endParaRPr lang="fr-FR" dirty="0"/>
          </a:p>
          <a:p>
            <a:r>
              <a:rPr lang="fr-FR" dirty="0"/>
              <a:t>Visualisation des CVE</a:t>
            </a:r>
          </a:p>
        </p:txBody>
      </p:sp>
      <p:pic>
        <p:nvPicPr>
          <p:cNvPr id="11" name="Image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7DA416A-401F-7939-B96A-76FBDBEDF5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0141" y="3337791"/>
            <a:ext cx="1520176" cy="337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1A646D6-799B-FDE8-5D4C-D107054C05E1}"/>
              </a:ext>
            </a:extLst>
          </p:cNvPr>
          <p:cNvSpPr txBox="1"/>
          <p:nvPr/>
        </p:nvSpPr>
        <p:spPr>
          <a:xfrm>
            <a:off x="11379200" y="82550"/>
            <a:ext cx="730250" cy="707886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/>
              <a:t>4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BDDB3BC-3B12-0D69-7253-855F80181FCA}"/>
              </a:ext>
            </a:extLst>
          </p:cNvPr>
          <p:cNvSpPr txBox="1"/>
          <p:nvPr/>
        </p:nvSpPr>
        <p:spPr>
          <a:xfrm>
            <a:off x="3598610" y="205660"/>
            <a:ext cx="4994779" cy="461665"/>
          </a:xfrm>
          <a:prstGeom prst="rect">
            <a:avLst/>
          </a:prstGeom>
          <a:noFill/>
          <a:ln w="38100">
            <a:solidFill>
              <a:srgbClr val="95B8B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Principaux problèmes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24174A9-3C71-BAEF-373A-798ED4004376}"/>
              </a:ext>
            </a:extLst>
          </p:cNvPr>
          <p:cNvGrpSpPr/>
          <p:nvPr/>
        </p:nvGrpSpPr>
        <p:grpSpPr>
          <a:xfrm>
            <a:off x="4602908" y="1433246"/>
            <a:ext cx="2852640" cy="4021033"/>
            <a:chOff x="4933291" y="386345"/>
            <a:chExt cx="2852640" cy="4021033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EF555170-A798-5236-5038-E18BB3164D69}"/>
                </a:ext>
              </a:extLst>
            </p:cNvPr>
            <p:cNvSpPr txBox="1"/>
            <p:nvPr/>
          </p:nvSpPr>
          <p:spPr>
            <a:xfrm>
              <a:off x="4933291" y="3484048"/>
              <a:ext cx="285264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u="sng" dirty="0" err="1">
                  <a:solidFill>
                    <a:schemeClr val="bg1"/>
                  </a:solidFill>
                </a:rPr>
                <a:t>FastApi</a:t>
              </a:r>
              <a:r>
                <a:rPr lang="fr-FR" b="1" u="sng" dirty="0">
                  <a:solidFill>
                    <a:schemeClr val="bg1"/>
                  </a:solidFill>
                </a:rPr>
                <a:t> :</a:t>
              </a:r>
              <a:r>
                <a:rPr lang="fr-FR" dirty="0">
                  <a:solidFill>
                    <a:schemeClr val="bg1"/>
                  </a:solidFill>
                </a:rPr>
                <a:t> Compliqué à comprendre pour le M2M Android/web</a:t>
              </a:r>
            </a:p>
          </p:txBody>
        </p:sp>
        <p:pic>
          <p:nvPicPr>
            <p:cNvPr id="3" name="Picture 6">
              <a:extLst>
                <a:ext uri="{FF2B5EF4-FFF2-40B4-BE49-F238E27FC236}">
                  <a16:creationId xmlns:a16="http://schemas.microsoft.com/office/drawing/2014/main" id="{16EC949C-5552-A85E-8D19-18629ADD25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460"/>
            <a:stretch>
              <a:fillRect/>
            </a:stretch>
          </p:blipFill>
          <p:spPr bwMode="auto">
            <a:xfrm>
              <a:off x="5303124" y="386345"/>
              <a:ext cx="2112973" cy="2004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8AEBBB41-48EB-1E14-DCC9-28B12ADCA006}"/>
              </a:ext>
            </a:extLst>
          </p:cNvPr>
          <p:cNvGrpSpPr/>
          <p:nvPr/>
        </p:nvGrpSpPr>
        <p:grpSpPr>
          <a:xfrm>
            <a:off x="1176183" y="1324070"/>
            <a:ext cx="2852640" cy="4001667"/>
            <a:chOff x="1108774" y="1267314"/>
            <a:chExt cx="2852640" cy="400166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BAC58E2E-F909-A9FE-9B13-100590C19F62}"/>
                </a:ext>
              </a:extLst>
            </p:cNvPr>
            <p:cNvSpPr txBox="1"/>
            <p:nvPr/>
          </p:nvSpPr>
          <p:spPr>
            <a:xfrm>
              <a:off x="1108774" y="4622650"/>
              <a:ext cx="28526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Problèmes </a:t>
              </a:r>
              <a:r>
                <a:rPr lang="fr-FR" dirty="0" err="1">
                  <a:solidFill>
                    <a:schemeClr val="bg1"/>
                  </a:solidFill>
                </a:rPr>
                <a:t>dpkg</a:t>
              </a:r>
              <a:r>
                <a:rPr lang="fr-FR" dirty="0">
                  <a:solidFill>
                    <a:schemeClr val="bg1"/>
                  </a:solidFill>
                </a:rPr>
                <a:t>, </a:t>
              </a:r>
              <a:r>
                <a:rPr lang="fr-FR" dirty="0" err="1">
                  <a:solidFill>
                    <a:schemeClr val="bg1"/>
                  </a:solidFill>
                </a:rPr>
                <a:t>path</a:t>
              </a:r>
              <a:r>
                <a:rPr lang="fr-FR" dirty="0">
                  <a:solidFill>
                    <a:schemeClr val="bg1"/>
                  </a:solidFill>
                </a:rPr>
                <a:t> et root (voir email Masson)</a:t>
              </a:r>
            </a:p>
          </p:txBody>
        </p: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AC2D19EC-D61B-0BB2-2A66-895D744CAABD}"/>
                </a:ext>
              </a:extLst>
            </p:cNvPr>
            <p:cNvGrpSpPr/>
            <p:nvPr/>
          </p:nvGrpSpPr>
          <p:grpSpPr>
            <a:xfrm>
              <a:off x="1330611" y="1267314"/>
              <a:ext cx="2600673" cy="3263635"/>
              <a:chOff x="1330611" y="1267314"/>
              <a:chExt cx="2600673" cy="3263635"/>
            </a:xfrm>
          </p:grpSpPr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F9AEEEE4-C440-436A-D421-A18BB2EC6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78069"/>
              <a:stretch>
                <a:fillRect/>
              </a:stretch>
            </p:blipFill>
            <p:spPr>
              <a:xfrm>
                <a:off x="2767068" y="3528807"/>
                <a:ext cx="1164216" cy="512883"/>
              </a:xfrm>
              <a:prstGeom prst="rect">
                <a:avLst/>
              </a:prstGeom>
            </p:spPr>
          </p:pic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A99F489E-5482-2319-CD5D-41FF4F5294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07039" y="4305158"/>
                <a:ext cx="1816138" cy="225791"/>
              </a:xfrm>
              <a:prstGeom prst="rect">
                <a:avLst/>
              </a:prstGeom>
            </p:spPr>
          </p:pic>
          <p:pic>
            <p:nvPicPr>
              <p:cNvPr id="7" name="Picture 4" descr="VirtualBox - Wikipedia">
                <a:extLst>
                  <a:ext uri="{FF2B5EF4-FFF2-40B4-BE49-F238E27FC236}">
                    <a16:creationId xmlns:a16="http://schemas.microsoft.com/office/drawing/2014/main" id="{ED93115E-5A5B-6DA7-CF7D-E3CE9DA03E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47012" y="1267314"/>
                <a:ext cx="2176165" cy="18627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6" descr="Enable Root Login via SSH (by using 4 Simple Steps)">
                <a:extLst>
                  <a:ext uri="{FF2B5EF4-FFF2-40B4-BE49-F238E27FC236}">
                    <a16:creationId xmlns:a16="http://schemas.microsoft.com/office/drawing/2014/main" id="{7D0DF7F8-E1A1-3FFC-85D9-49C41A3F8F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30611" y="3532571"/>
                <a:ext cx="1204484" cy="5528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EEF32C21-3779-9E22-7D61-1CE32476B96F}"/>
              </a:ext>
            </a:extLst>
          </p:cNvPr>
          <p:cNvGrpSpPr/>
          <p:nvPr/>
        </p:nvGrpSpPr>
        <p:grpSpPr>
          <a:xfrm>
            <a:off x="7799230" y="1269128"/>
            <a:ext cx="3260730" cy="3964908"/>
            <a:chOff x="7932786" y="340852"/>
            <a:chExt cx="3260730" cy="3964908"/>
          </a:xfrm>
        </p:grpSpPr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FAC5034F-556D-E797-14FC-E3FF5ADC13EF}"/>
                </a:ext>
              </a:extLst>
            </p:cNvPr>
            <p:cNvGrpSpPr/>
            <p:nvPr/>
          </p:nvGrpSpPr>
          <p:grpSpPr>
            <a:xfrm>
              <a:off x="7932786" y="340852"/>
              <a:ext cx="3260730" cy="2788297"/>
              <a:chOff x="7932786" y="340852"/>
              <a:chExt cx="3260730" cy="2788297"/>
            </a:xfrm>
          </p:grpSpPr>
          <p:pic>
            <p:nvPicPr>
              <p:cNvPr id="1032" name="Picture 8" descr="Example Image">
                <a:extLst>
                  <a:ext uri="{FF2B5EF4-FFF2-40B4-BE49-F238E27FC236}">
                    <a16:creationId xmlns:a16="http://schemas.microsoft.com/office/drawing/2014/main" id="{154D571C-5ACE-ABCA-5D40-40D8885E6F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32786" y="340852"/>
                <a:ext cx="1751171" cy="17511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" name="Picture 10" descr="Flask (framework) — Wikipédia">
                <a:extLst>
                  <a:ext uri="{FF2B5EF4-FFF2-40B4-BE49-F238E27FC236}">
                    <a16:creationId xmlns:a16="http://schemas.microsoft.com/office/drawing/2014/main" id="{BC2A0993-C60E-41AF-9352-95055DE4DB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39357" y="1914806"/>
                <a:ext cx="3102513" cy="12143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6">
                <a:extLst>
                  <a:ext uri="{FF2B5EF4-FFF2-40B4-BE49-F238E27FC236}">
                    <a16:creationId xmlns:a16="http://schemas.microsoft.com/office/drawing/2014/main" id="{CA6FE9F6-EE9A-050C-591F-746EF4AD4D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0460"/>
              <a:stretch>
                <a:fillRect/>
              </a:stretch>
            </p:blipFill>
            <p:spPr bwMode="auto">
              <a:xfrm>
                <a:off x="9848295" y="477060"/>
                <a:ext cx="1345221" cy="12764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7173B7FB-8D70-9AAD-DE5A-39F1C6F420A6}"/>
                </a:ext>
              </a:extLst>
            </p:cNvPr>
            <p:cNvSpPr txBox="1"/>
            <p:nvPr/>
          </p:nvSpPr>
          <p:spPr>
            <a:xfrm>
              <a:off x="8094925" y="3659429"/>
              <a:ext cx="28526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Faire cohabiter différents </a:t>
              </a:r>
              <a:r>
                <a:rPr lang="fr-FR" dirty="0" err="1">
                  <a:solidFill>
                    <a:schemeClr val="bg1"/>
                  </a:solidFill>
                </a:rPr>
                <a:t>frameworks</a:t>
              </a:r>
              <a:endParaRPr lang="fr-FR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18D65601-5AE2-46FC-B138-694DDD2B510D}" type="slidenum">
              <a:rPr lang="fr-FR" smtClean="0"/>
              <a:pPr rtl="0"/>
              <a:t>5</a:t>
            </a:fld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9A9209E-7505-F03E-B85E-9125937CEF24}"/>
              </a:ext>
            </a:extLst>
          </p:cNvPr>
          <p:cNvSpPr txBox="1"/>
          <p:nvPr/>
        </p:nvSpPr>
        <p:spPr>
          <a:xfrm>
            <a:off x="11379200" y="82550"/>
            <a:ext cx="730250" cy="707886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/>
              <a:t>5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B8E1DD7-CE69-B8B4-F688-0B316E23D44E}"/>
              </a:ext>
            </a:extLst>
          </p:cNvPr>
          <p:cNvSpPr txBox="1"/>
          <p:nvPr/>
        </p:nvSpPr>
        <p:spPr>
          <a:xfrm>
            <a:off x="4533900" y="146050"/>
            <a:ext cx="3727450" cy="461665"/>
          </a:xfrm>
          <a:prstGeom prst="rect">
            <a:avLst/>
          </a:prstGeom>
          <a:noFill/>
          <a:ln w="38100">
            <a:solidFill>
              <a:srgbClr val="95B8B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Gestion du planning</a:t>
            </a:r>
          </a:p>
        </p:txBody>
      </p:sp>
      <p:pic>
        <p:nvPicPr>
          <p:cNvPr id="15" name="Image 1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B8315196-208A-555F-C87F-D81371CD2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996" y="1421710"/>
            <a:ext cx="6033913" cy="4445353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BA98BF44-9147-5F75-2F86-2EA02EF443EF}"/>
              </a:ext>
            </a:extLst>
          </p:cNvPr>
          <p:cNvSpPr txBox="1"/>
          <p:nvPr/>
        </p:nvSpPr>
        <p:spPr>
          <a:xfrm>
            <a:off x="8458288" y="1345606"/>
            <a:ext cx="2425700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b="1" u="sng" dirty="0" err="1">
                <a:solidFill>
                  <a:srgbClr val="58696B"/>
                </a:solidFill>
              </a:rPr>
              <a:t>Bowser</a:t>
            </a:r>
            <a:r>
              <a:rPr lang="fr-FR" sz="2800" b="1" u="sng" dirty="0">
                <a:solidFill>
                  <a:srgbClr val="58696B"/>
                </a:solidFill>
              </a:rPr>
              <a:t> Shell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14E3D99-713B-61B7-BEE9-7013177E5FB0}"/>
              </a:ext>
            </a:extLst>
          </p:cNvPr>
          <p:cNvSpPr txBox="1"/>
          <p:nvPr/>
        </p:nvSpPr>
        <p:spPr>
          <a:xfrm>
            <a:off x="8187314" y="1919792"/>
            <a:ext cx="319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Ressenti :</a:t>
            </a:r>
          </a:p>
          <a:p>
            <a:r>
              <a:rPr lang="fr-FR" dirty="0"/>
              <a:t>C’était un peu serré avec l’alternance mais sinon ça va bien.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DCDEFE6-806F-172E-02AE-D7BA37FE190D}"/>
              </a:ext>
            </a:extLst>
          </p:cNvPr>
          <p:cNvSpPr txBox="1"/>
          <p:nvPr/>
        </p:nvSpPr>
        <p:spPr>
          <a:xfrm>
            <a:off x="8187314" y="3120121"/>
            <a:ext cx="319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Test / QA :</a:t>
            </a:r>
          </a:p>
          <a:p>
            <a:r>
              <a:rPr lang="fr-FR" dirty="0"/>
              <a:t>On a eu le temps de test sur la VM linux, l’app Java et Web à chaque release.</a:t>
            </a:r>
          </a:p>
        </p:txBody>
      </p:sp>
      <p:pic>
        <p:nvPicPr>
          <p:cNvPr id="2051" name="Picture 3" descr="The QA Force is strong with this one - Yoda Meme Generator">
            <a:extLst>
              <a:ext uri="{FF2B5EF4-FFF2-40B4-BE49-F238E27FC236}">
                <a16:creationId xmlns:a16="http://schemas.microsoft.com/office/drawing/2014/main" id="{69ABD803-BC31-1520-6BC4-D493C5A9B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382" y="4527541"/>
            <a:ext cx="1690065" cy="202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444EDC2-BFBF-920F-CB70-9AF7324660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18D65601-5AE2-46FC-B138-694DDD2B510D}" type="slidenum">
              <a:rPr lang="fr-FR" smtClean="0"/>
              <a:pPr rtl="0"/>
              <a:t>6</a:t>
            </a:fld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FC03288-A801-FD5C-DF0F-FAB59FA2DB3B}"/>
              </a:ext>
            </a:extLst>
          </p:cNvPr>
          <p:cNvSpPr txBox="1"/>
          <p:nvPr/>
        </p:nvSpPr>
        <p:spPr>
          <a:xfrm>
            <a:off x="11379200" y="82550"/>
            <a:ext cx="730250" cy="707886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/>
              <a:t>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E4B9C96-9856-06C1-92AB-4FF9C6EFF467}"/>
              </a:ext>
            </a:extLst>
          </p:cNvPr>
          <p:cNvSpPr txBox="1"/>
          <p:nvPr/>
        </p:nvSpPr>
        <p:spPr>
          <a:xfrm>
            <a:off x="4533900" y="146050"/>
            <a:ext cx="3727450" cy="461665"/>
          </a:xfrm>
          <a:prstGeom prst="rect">
            <a:avLst/>
          </a:prstGeom>
          <a:noFill/>
          <a:ln w="38100">
            <a:solidFill>
              <a:srgbClr val="95B8B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Pistes futures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BA30D93-6D4B-334F-95DF-B07F037EA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19" y="1242583"/>
            <a:ext cx="4687613" cy="1044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E9DD43CD-3ED3-740B-2208-2CC9B2E8D5FD}"/>
              </a:ext>
            </a:extLst>
          </p:cNvPr>
          <p:cNvSpPr txBox="1"/>
          <p:nvPr/>
        </p:nvSpPr>
        <p:spPr>
          <a:xfrm>
            <a:off x="7386426" y="1242583"/>
            <a:ext cx="3191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Fork de </a:t>
            </a:r>
            <a:r>
              <a:rPr lang="fr-FR" b="1" u="sng" dirty="0" err="1"/>
              <a:t>metasploit</a:t>
            </a:r>
            <a:r>
              <a:rPr lang="fr-FR" b="1" u="sng" dirty="0"/>
              <a:t> :</a:t>
            </a:r>
          </a:p>
          <a:p>
            <a:r>
              <a:rPr lang="fr-FR" dirty="0"/>
              <a:t>Devenir une alternative à </a:t>
            </a:r>
            <a:r>
              <a:rPr lang="fr-FR" dirty="0" err="1"/>
              <a:t>metasploit</a:t>
            </a:r>
            <a:endParaRPr lang="fr-FR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5C6D2D93-0BBF-C184-7F5F-E6B150690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668" y="3167608"/>
            <a:ext cx="2176108" cy="116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CCD1FD23-9F3E-4F70-06D5-65B316F89A0C}"/>
              </a:ext>
            </a:extLst>
          </p:cNvPr>
          <p:cNvSpPr txBox="1"/>
          <p:nvPr/>
        </p:nvSpPr>
        <p:spPr>
          <a:xfrm>
            <a:off x="5738385" y="3292325"/>
            <a:ext cx="2689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Outils :</a:t>
            </a:r>
          </a:p>
          <a:p>
            <a:r>
              <a:rPr lang="fr-FR" dirty="0"/>
              <a:t>Rajoutez d’autres outils comme NMAP</a:t>
            </a:r>
          </a:p>
        </p:txBody>
      </p:sp>
      <p:pic>
        <p:nvPicPr>
          <p:cNvPr id="16" name="Picture 4" descr="Android Studio Icon SVG Vector &amp; PNG Free Download | UXWing">
            <a:extLst>
              <a:ext uri="{FF2B5EF4-FFF2-40B4-BE49-F238E27FC236}">
                <a16:creationId xmlns:a16="http://schemas.microsoft.com/office/drawing/2014/main" id="{EFDC7E9A-7A26-BEE3-CDC9-54F39BE70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576" y="4570471"/>
            <a:ext cx="1766658" cy="1766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E14962F0-2379-B4CB-3908-E70B7EB06E05}"/>
              </a:ext>
            </a:extLst>
          </p:cNvPr>
          <p:cNvSpPr txBox="1"/>
          <p:nvPr/>
        </p:nvSpPr>
        <p:spPr>
          <a:xfrm>
            <a:off x="3775679" y="5220450"/>
            <a:ext cx="4652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UX (Expérience utilisateur) :</a:t>
            </a:r>
          </a:p>
          <a:p>
            <a:r>
              <a:rPr lang="fr-FR" dirty="0"/>
              <a:t>Refaire le design.</a:t>
            </a:r>
          </a:p>
        </p:txBody>
      </p:sp>
    </p:spTree>
    <p:extLst>
      <p:ext uri="{BB962C8B-B14F-4D97-AF65-F5344CB8AC3E}">
        <p14:creationId xmlns:p14="http://schemas.microsoft.com/office/powerpoint/2010/main" val="1669023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3778169" cy="330733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Merci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8F13BA5-0410-1C7C-0DC1-0300D67D372D}"/>
              </a:ext>
            </a:extLst>
          </p:cNvPr>
          <p:cNvSpPr txBox="1"/>
          <p:nvPr/>
        </p:nvSpPr>
        <p:spPr>
          <a:xfrm>
            <a:off x="11379200" y="82550"/>
            <a:ext cx="730250" cy="707886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/>
              <a:t>7</a:t>
            </a:r>
          </a:p>
        </p:txBody>
      </p:sp>
      <p:pic>
        <p:nvPicPr>
          <p:cNvPr id="4098" name="Picture 2" descr="BladeRunnerJS Sprint Demos">
            <a:extLst>
              <a:ext uri="{FF2B5EF4-FFF2-40B4-BE49-F238E27FC236}">
                <a16:creationId xmlns:a16="http://schemas.microsoft.com/office/drawing/2014/main" id="{CF3E162B-AA18-7886-D504-0B6D3278A8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91"/>
          <a:stretch>
            <a:fillRect/>
          </a:stretch>
        </p:blipFill>
        <p:spPr bwMode="auto">
          <a:xfrm>
            <a:off x="5994021" y="1541418"/>
            <a:ext cx="3810000" cy="355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938328_TF78544816_Win32" id="{92BE2C3D-300F-4B9F-910D-D2787EDDC4E0}" vid="{8BF88667-91EE-4F49-BD92-7DB8827BD33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90ABD94B10FA4A9EA32FB3306DEBEF" ma:contentTypeVersion="11" ma:contentTypeDescription="Crée un document." ma:contentTypeScope="" ma:versionID="7b1ed41425f213d3d81fa48624cb4d75">
  <xsd:schema xmlns:xsd="http://www.w3.org/2001/XMLSchema" xmlns:xs="http://www.w3.org/2001/XMLSchema" xmlns:p="http://schemas.microsoft.com/office/2006/metadata/properties" xmlns:ns3="da6af751-cc88-47d1-b60e-0f71f20c559f" targetNamespace="http://schemas.microsoft.com/office/2006/metadata/properties" ma:root="true" ma:fieldsID="59b71e63350cc17fec7dff2c6594b3c4" ns3:_="">
    <xsd:import namespace="da6af751-cc88-47d1-b60e-0f71f20c559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6af751-cc88-47d1-b60e-0f71f20c559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6af751-cc88-47d1-b60e-0f71f20c559f" xsi:nil="true"/>
  </documentManagement>
</p:properties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C8BD9B-CD6E-4210-BCC2-124F7B78E7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6af751-cc88-47d1-b60e-0f71f20c55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a6af751-cc88-47d1-b60e-0f71f20c559f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de conférence moderne</Template>
  <TotalTime>182</TotalTime>
  <Words>205</Words>
  <Application>Microsoft Office PowerPoint</Application>
  <PresentationFormat>Grand écran</PresentationFormat>
  <Paragraphs>60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Tisa Offc Serif Pro</vt:lpstr>
      <vt:lpstr>Univers Light</vt:lpstr>
      <vt:lpstr>Personnalisé</vt:lpstr>
      <vt:lpstr>Développer des applications communicantes</vt:lpstr>
      <vt:lpstr>Ordre du jour</vt:lpstr>
      <vt:lpstr>Présentation PowerPoint</vt:lpstr>
      <vt:lpstr>Présentation PowerPoint</vt:lpstr>
      <vt:lpstr>Présentation PowerPoint</vt:lpstr>
      <vt:lpstr>Présentation PowerPoint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Gombert</dc:creator>
  <cp:lastModifiedBy>Julien Gombert</cp:lastModifiedBy>
  <cp:revision>3</cp:revision>
  <dcterms:created xsi:type="dcterms:W3CDTF">2026-01-23T18:13:47Z</dcterms:created>
  <dcterms:modified xsi:type="dcterms:W3CDTF">2026-01-24T08:59:43Z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0x0101005090ABD94B10FA4A9EA32FB3306DEBEF</vt:lpwstr>
  </property>
</Properties>
</file>